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516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6C4D69-127A-4186-9C24-A6749AD447CB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0C81059-6D53-44B9-83B4-3F4EBC2B54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 descr="idM5cEJz_6_logos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7215206" y="6000768"/>
            <a:ext cx="1543032" cy="5835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Unit-4</a:t>
            </a:r>
            <a:br>
              <a:rPr lang="en-IN" dirty="0" smtClean="0"/>
            </a:br>
            <a:r>
              <a:rPr lang="en-US" b="1" dirty="0" smtClean="0"/>
              <a:t>Packages and Java Library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Oops through java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Packages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package</a:t>
            </a:r>
            <a:r>
              <a:rPr lang="en-US" dirty="0" smtClean="0"/>
              <a:t> in Java is a </a:t>
            </a:r>
            <a:r>
              <a:rPr lang="en-US" b="1" dirty="0" smtClean="0"/>
              <a:t>namespace</a:t>
            </a:r>
            <a:r>
              <a:rPr lang="en-US" dirty="0" smtClean="0"/>
              <a:t> that organizes classes and interfaces into a structured manner.</a:t>
            </a:r>
            <a:br>
              <a:rPr lang="en-US" dirty="0" smtClean="0"/>
            </a:br>
            <a:r>
              <a:rPr lang="en-US" dirty="0" smtClean="0"/>
              <a:t>Think of it like a </a:t>
            </a:r>
            <a:r>
              <a:rPr lang="en-US" b="1" dirty="0" smtClean="0"/>
              <a:t>folder in your computer</a:t>
            </a:r>
            <a:r>
              <a:rPr lang="en-US" dirty="0" smtClean="0"/>
              <a:t> that contains related files.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packages?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Organization</a:t>
            </a:r>
            <a:r>
              <a:rPr lang="en-US" dirty="0" smtClean="0"/>
              <a:t> – Groups related classes/interfaces together (like </a:t>
            </a:r>
            <a:r>
              <a:rPr lang="en-US" dirty="0" err="1" smtClean="0"/>
              <a:t>java.util</a:t>
            </a:r>
            <a:r>
              <a:rPr lang="en-US" dirty="0" smtClean="0"/>
              <a:t>, java.sql).</a:t>
            </a:r>
          </a:p>
          <a:p>
            <a:r>
              <a:rPr lang="en-US" b="1" dirty="0" smtClean="0"/>
              <a:t>Avoids name conflicts</a:t>
            </a:r>
            <a:r>
              <a:rPr lang="en-US" dirty="0" smtClean="0"/>
              <a:t> – Two classes with the same name can exist in different packages.</a:t>
            </a:r>
          </a:p>
          <a:p>
            <a:r>
              <a:rPr lang="en-US" b="1" dirty="0" smtClean="0"/>
              <a:t>Reusability</a:t>
            </a:r>
            <a:r>
              <a:rPr lang="en-US" dirty="0" smtClean="0"/>
              <a:t> – Once a package is created, it can be reused across multiple projects.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Packages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Built-in Packages</a:t>
            </a:r>
            <a:r>
              <a:rPr lang="en-US" dirty="0" smtClean="0"/>
              <a:t> (predefined in JDK)</a:t>
            </a:r>
          </a:p>
          <a:p>
            <a:pPr lvl="1"/>
            <a:r>
              <a:rPr lang="en-US" dirty="0" smtClean="0"/>
              <a:t>Examples:</a:t>
            </a:r>
          </a:p>
          <a:p>
            <a:pPr lvl="2"/>
            <a:r>
              <a:rPr lang="en-US" dirty="0" err="1" smtClean="0"/>
              <a:t>java.lang</a:t>
            </a:r>
            <a:r>
              <a:rPr lang="en-US" dirty="0" smtClean="0"/>
              <a:t> → fundamental classes (String, Math, Object, Exception)</a:t>
            </a:r>
          </a:p>
          <a:p>
            <a:pPr lvl="2"/>
            <a:r>
              <a:rPr lang="en-US" dirty="0" err="1" smtClean="0"/>
              <a:t>java.util</a:t>
            </a:r>
            <a:r>
              <a:rPr lang="en-US" dirty="0" smtClean="0"/>
              <a:t> → collections, date/time, utility classes</a:t>
            </a:r>
          </a:p>
          <a:p>
            <a:pPr lvl="2"/>
            <a:r>
              <a:rPr lang="en-US" dirty="0" smtClean="0"/>
              <a:t>java.io → input/output streams, file handling</a:t>
            </a:r>
          </a:p>
          <a:p>
            <a:pPr lvl="2"/>
            <a:r>
              <a:rPr lang="en-US" dirty="0" smtClean="0"/>
              <a:t>java.sql → database connectivity (JDBC)</a:t>
            </a:r>
          </a:p>
          <a:p>
            <a:pPr lvl="2"/>
            <a:r>
              <a:rPr lang="en-US" dirty="0" smtClean="0"/>
              <a:t>java.net → networking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User-defined Packages</a:t>
            </a:r>
            <a:r>
              <a:rPr lang="en-US" dirty="0" smtClean="0"/>
              <a:t> (created by programmers)</a:t>
            </a:r>
            <a:endParaRPr lang="en-IN" dirty="0" smtClean="0"/>
          </a:p>
          <a:p>
            <a:r>
              <a:rPr lang="en-US" b="1" dirty="0" smtClean="0"/>
              <a:t>Package</a:t>
            </a:r>
            <a:r>
              <a:rPr lang="en-US" dirty="0" smtClean="0"/>
              <a:t> = way to </a:t>
            </a:r>
            <a:r>
              <a:rPr lang="en-US" b="1" dirty="0" smtClean="0"/>
              <a:t>organize and group classes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Java Library</a:t>
            </a:r>
            <a:r>
              <a:rPr lang="en-US" dirty="0" smtClean="0"/>
              <a:t> = collection of </a:t>
            </a:r>
            <a:r>
              <a:rPr lang="en-US" b="1" dirty="0" smtClean="0"/>
              <a:t>predefined packages and classes</a:t>
            </a:r>
            <a:r>
              <a:rPr lang="en-US" dirty="0" smtClean="0"/>
              <a:t> provided by Java for faster development.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1.2 Defining Package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package keyword is used.</a:t>
            </a:r>
          </a:p>
          <a:p>
            <a:pPr lvl="0"/>
            <a:r>
              <a:rPr lang="en-US" dirty="0" smtClean="0"/>
              <a:t>Must be the </a:t>
            </a:r>
            <a:r>
              <a:rPr lang="en-US" b="1" dirty="0" smtClean="0"/>
              <a:t>first statement</a:t>
            </a:r>
            <a:r>
              <a:rPr lang="en-US" dirty="0" smtClean="0"/>
              <a:t> in a Java file (except comments).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1.3 Importing Packages and Classes into Programs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Three ways:</a:t>
            </a:r>
          </a:p>
          <a:p>
            <a:pPr lvl="0"/>
            <a:r>
              <a:rPr lang="en-US" sz="2400" b="1" dirty="0" smtClean="0"/>
              <a:t>Single Class Import</a:t>
            </a:r>
            <a:endParaRPr lang="en-US" sz="2400" dirty="0" smtClean="0"/>
          </a:p>
          <a:p>
            <a:r>
              <a:rPr lang="en-US" sz="2400" dirty="0" smtClean="0"/>
              <a:t>import </a:t>
            </a:r>
            <a:r>
              <a:rPr lang="en-US" sz="2400" dirty="0" err="1" smtClean="0"/>
              <a:t>java.util.Scanner</a:t>
            </a:r>
            <a:r>
              <a:rPr lang="en-US" sz="2400" dirty="0" smtClean="0"/>
              <a:t>;</a:t>
            </a:r>
          </a:p>
          <a:p>
            <a:pPr lvl="0"/>
            <a:r>
              <a:rPr lang="en-US" sz="2400" b="1" dirty="0" smtClean="0"/>
              <a:t>Import All Classes</a:t>
            </a:r>
            <a:endParaRPr lang="en-US" sz="2400" dirty="0" smtClean="0"/>
          </a:p>
          <a:p>
            <a:r>
              <a:rPr lang="en-US" sz="2400" dirty="0" smtClean="0"/>
              <a:t>import </a:t>
            </a:r>
            <a:r>
              <a:rPr lang="en-US" sz="2400" dirty="0" err="1" smtClean="0"/>
              <a:t>java.util</a:t>
            </a:r>
            <a:r>
              <a:rPr lang="en-US" sz="2400" dirty="0" smtClean="0"/>
              <a:t>.*;</a:t>
            </a:r>
          </a:p>
          <a:p>
            <a:pPr lvl="0"/>
            <a:r>
              <a:rPr lang="en-US" sz="2400" b="1" dirty="0" smtClean="0"/>
              <a:t>Fully Qualified Name</a:t>
            </a:r>
            <a:endParaRPr lang="en-US" sz="2400" dirty="0" smtClean="0"/>
          </a:p>
          <a:p>
            <a:r>
              <a:rPr lang="en-US" sz="2400" dirty="0" err="1" smtClean="0"/>
              <a:t>java.util.Scanner</a:t>
            </a:r>
            <a:r>
              <a:rPr lang="en-US" sz="2400" dirty="0" smtClean="0"/>
              <a:t> sc = new </a:t>
            </a:r>
            <a:r>
              <a:rPr lang="en-US" sz="2400" dirty="0" err="1" smtClean="0"/>
              <a:t>java.util.Scanner</a:t>
            </a:r>
            <a:r>
              <a:rPr lang="en-US" sz="2400" dirty="0" smtClean="0"/>
              <a:t>(</a:t>
            </a:r>
            <a:r>
              <a:rPr lang="en-US" sz="2400" dirty="0" err="1" smtClean="0"/>
              <a:t>System.in</a:t>
            </a:r>
            <a:r>
              <a:rPr lang="en-US" sz="2400" dirty="0" smtClean="0"/>
              <a:t>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1.4 Path and Class Path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smtClean="0"/>
              <a:t>Definition</a:t>
            </a:r>
            <a:r>
              <a:rPr lang="en-US" sz="2400" dirty="0" smtClean="0"/>
              <a:t>:</a:t>
            </a:r>
            <a:br>
              <a:rPr lang="en-US" sz="2400" dirty="0" smtClean="0"/>
            </a:br>
            <a:r>
              <a:rPr lang="en-US" sz="2400" dirty="0" smtClean="0"/>
              <a:t>The </a:t>
            </a:r>
            <a:r>
              <a:rPr lang="en-US" sz="2400" b="1" dirty="0" smtClean="0"/>
              <a:t>PATH</a:t>
            </a:r>
            <a:r>
              <a:rPr lang="en-US" sz="2400" dirty="0" smtClean="0"/>
              <a:t> is an environment variable in your operating system.</a:t>
            </a:r>
            <a:br>
              <a:rPr lang="en-US" sz="2400" dirty="0" smtClean="0"/>
            </a:br>
            <a:r>
              <a:rPr lang="en-US" sz="2400" dirty="0" smtClean="0"/>
              <a:t>It tells the OS where to look for </a:t>
            </a:r>
            <a:r>
              <a:rPr lang="en-US" sz="2400" b="1" dirty="0" smtClean="0"/>
              <a:t>executables</a:t>
            </a:r>
            <a:r>
              <a:rPr lang="en-US" sz="2400" dirty="0" smtClean="0"/>
              <a:t> like </a:t>
            </a:r>
            <a:r>
              <a:rPr lang="en-US" sz="2400" dirty="0" err="1" smtClean="0"/>
              <a:t>javac</a:t>
            </a:r>
            <a:r>
              <a:rPr lang="en-US" sz="2400" dirty="0" smtClean="0"/>
              <a:t> (Java compiler) and java (Java interpreter).</a:t>
            </a:r>
          </a:p>
          <a:p>
            <a:pPr lvl="0"/>
            <a:r>
              <a:rPr lang="en-US" sz="2400" dirty="0" smtClean="0"/>
              <a:t>·  </a:t>
            </a:r>
            <a:r>
              <a:rPr lang="en-US" sz="2400" b="1" dirty="0" smtClean="0"/>
              <a:t>Usage</a:t>
            </a:r>
            <a:r>
              <a:rPr lang="en-US" sz="2400" dirty="0" smtClean="0"/>
              <a:t>:</a:t>
            </a:r>
            <a:br>
              <a:rPr lang="en-US" sz="2400" dirty="0" smtClean="0"/>
            </a:br>
            <a:r>
              <a:rPr lang="en-US" sz="2400" dirty="0" smtClean="0"/>
              <a:t>Without setting the PATH, you must run Java commands from the bin directory of JDK.</a:t>
            </a:r>
            <a:br>
              <a:rPr lang="en-US" sz="2400" dirty="0" smtClean="0"/>
            </a:br>
            <a:r>
              <a:rPr lang="en-US" sz="2400" dirty="0" smtClean="0"/>
              <a:t>With PATH set, you can run Java commands from anywhere.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1.4 Path and Class Path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 err="1" smtClean="0"/>
              <a:t>ClassPath</a:t>
            </a:r>
            <a:r>
              <a:rPr lang="en-US" sz="2400" dirty="0" smtClean="0"/>
              <a:t> → Tells JVM where to look for </a:t>
            </a:r>
            <a:r>
              <a:rPr lang="en-US" sz="2400" b="1" dirty="0" smtClean="0"/>
              <a:t>user-defined classes and packages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b="1" dirty="0" smtClean="0"/>
              <a:t>Definition</a:t>
            </a:r>
            <a:r>
              <a:rPr lang="en-US" sz="2400" dirty="0" smtClean="0"/>
              <a:t>:</a:t>
            </a:r>
            <a:br>
              <a:rPr lang="en-US" sz="2400" dirty="0" smtClean="0"/>
            </a:br>
            <a:r>
              <a:rPr lang="en-US" sz="2400" dirty="0" smtClean="0"/>
              <a:t>The </a:t>
            </a:r>
            <a:r>
              <a:rPr lang="en-US" sz="2400" b="1" dirty="0" smtClean="0"/>
              <a:t>CLASSPATH</a:t>
            </a:r>
            <a:r>
              <a:rPr lang="en-US" sz="2400" dirty="0" smtClean="0"/>
              <a:t> is an environment variable (or command-line option) that tells Java </a:t>
            </a:r>
            <a:r>
              <a:rPr lang="en-US" sz="2400" b="1" dirty="0" smtClean="0"/>
              <a:t>where to look for user-defined classes, packages, and libraries</a:t>
            </a:r>
            <a:r>
              <a:rPr lang="en-US" sz="24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1.5 Access Control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 smtClean="0"/>
              <a:t>Public</a:t>
            </a:r>
            <a:r>
              <a:rPr lang="en-US" sz="2400" dirty="0" smtClean="0"/>
              <a:t> → accessible everywhere.</a:t>
            </a:r>
          </a:p>
          <a:p>
            <a:pPr lvl="0"/>
            <a:r>
              <a:rPr lang="en-US" sz="2400" b="1" dirty="0" smtClean="0"/>
              <a:t>Protected</a:t>
            </a:r>
            <a:r>
              <a:rPr lang="en-US" sz="2400" dirty="0" smtClean="0"/>
              <a:t> → accessible in same package + subclasses.</a:t>
            </a:r>
          </a:p>
          <a:p>
            <a:pPr lvl="0"/>
            <a:r>
              <a:rPr lang="en-US" sz="2400" b="1" dirty="0" smtClean="0"/>
              <a:t>Default (no modifier)</a:t>
            </a:r>
            <a:r>
              <a:rPr lang="en-US" sz="2400" dirty="0" smtClean="0"/>
              <a:t> → accessible only within the package.</a:t>
            </a:r>
          </a:p>
          <a:p>
            <a:pPr lvl="0"/>
            <a:r>
              <a:rPr lang="en-US" sz="2400" b="1" dirty="0" smtClean="0"/>
              <a:t>Private</a:t>
            </a:r>
            <a:r>
              <a:rPr lang="en-US" sz="2400" dirty="0" smtClean="0"/>
              <a:t> → accessible only inside the class.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1.6 Packages in Java SE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 err="1" smtClean="0"/>
              <a:t>java.lang</a:t>
            </a:r>
            <a:r>
              <a:rPr lang="en-US" sz="2400" dirty="0" smtClean="0"/>
              <a:t> → Core classes (String, Math, Object).</a:t>
            </a:r>
          </a:p>
          <a:p>
            <a:pPr lvl="0"/>
            <a:r>
              <a:rPr lang="en-US" sz="2400" b="1" dirty="0" err="1" smtClean="0"/>
              <a:t>java.util</a:t>
            </a:r>
            <a:r>
              <a:rPr lang="en-US" sz="2400" dirty="0" smtClean="0"/>
              <a:t> → Utility classes (</a:t>
            </a:r>
            <a:r>
              <a:rPr lang="en-US" sz="2400" dirty="0" err="1" smtClean="0"/>
              <a:t>ArrayList</a:t>
            </a:r>
            <a:r>
              <a:rPr lang="en-US" sz="2400" dirty="0" smtClean="0"/>
              <a:t>, Collections, Date, Scanner).</a:t>
            </a:r>
          </a:p>
          <a:p>
            <a:pPr lvl="0"/>
            <a:r>
              <a:rPr lang="en-US" sz="2400" b="1" dirty="0" smtClean="0"/>
              <a:t>java.io</a:t>
            </a:r>
            <a:r>
              <a:rPr lang="en-US" sz="2400" dirty="0" smtClean="0"/>
              <a:t> → </a:t>
            </a:r>
            <a:r>
              <a:rPr lang="en-US" sz="2400" dirty="0" err="1" smtClean="0"/>
              <a:t>Input/Output</a:t>
            </a:r>
            <a:r>
              <a:rPr lang="en-US" sz="2400" dirty="0" smtClean="0"/>
              <a:t> streams.</a:t>
            </a:r>
          </a:p>
          <a:p>
            <a:pPr lvl="0"/>
            <a:r>
              <a:rPr lang="en-US" sz="2400" b="1" dirty="0" smtClean="0"/>
              <a:t>java.sql</a:t>
            </a:r>
            <a:r>
              <a:rPr lang="en-US" sz="2400" dirty="0" smtClean="0"/>
              <a:t> → Database connectivity.</a:t>
            </a:r>
          </a:p>
          <a:p>
            <a:pPr lvl="0"/>
            <a:r>
              <a:rPr lang="en-US" sz="2400" b="1" dirty="0" err="1" smtClean="0"/>
              <a:t>java.time</a:t>
            </a:r>
            <a:r>
              <a:rPr lang="en-US" sz="2400" dirty="0" smtClean="0"/>
              <a:t> → Date &amp; time API.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1.7 </a:t>
            </a:r>
            <a:r>
              <a:rPr lang="en-US" sz="3600" b="1" dirty="0" err="1" smtClean="0"/>
              <a:t>java.lang</a:t>
            </a:r>
            <a:r>
              <a:rPr lang="en-US" sz="3600" b="1" dirty="0" smtClean="0"/>
              <a:t> Package and its Classes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 smtClean="0"/>
              <a:t>Automatically imported in every Java program.</a:t>
            </a:r>
            <a:endParaRPr lang="en-US" sz="2400" dirty="0" smtClean="0"/>
          </a:p>
          <a:p>
            <a:pPr lvl="0"/>
            <a:r>
              <a:rPr lang="en-US" sz="2800" dirty="0" smtClean="0"/>
              <a:t>Contains:</a:t>
            </a:r>
            <a:endParaRPr lang="en-US" sz="2400" dirty="0" smtClean="0"/>
          </a:p>
          <a:p>
            <a:pPr lvl="1"/>
            <a:r>
              <a:rPr lang="en-US" sz="2400" dirty="0" smtClean="0"/>
              <a:t>Object</a:t>
            </a:r>
            <a:endParaRPr lang="en-US" sz="3200" dirty="0" smtClean="0"/>
          </a:p>
          <a:p>
            <a:pPr lvl="1"/>
            <a:r>
              <a:rPr lang="en-US" sz="2400" dirty="0" smtClean="0"/>
              <a:t>String</a:t>
            </a:r>
            <a:endParaRPr lang="en-US" sz="3200" dirty="0" smtClean="0"/>
          </a:p>
          <a:p>
            <a:pPr lvl="1"/>
            <a:r>
              <a:rPr lang="en-US" sz="2400" dirty="0" smtClean="0"/>
              <a:t>Math</a:t>
            </a:r>
            <a:endParaRPr lang="en-US" sz="3200" dirty="0" smtClean="0"/>
          </a:p>
          <a:p>
            <a:pPr lvl="1"/>
            <a:r>
              <a:rPr lang="en-US" sz="2400" dirty="0" smtClean="0"/>
              <a:t>Wrapper</a:t>
            </a:r>
            <a:r>
              <a:rPr lang="en-US" sz="3600" dirty="0" smtClean="0"/>
              <a:t> classes (</a:t>
            </a:r>
            <a:r>
              <a:rPr lang="en-US" sz="2400" dirty="0" smtClean="0"/>
              <a:t>Integer</a:t>
            </a:r>
            <a:r>
              <a:rPr lang="en-US" sz="3600" dirty="0" smtClean="0"/>
              <a:t>, </a:t>
            </a:r>
            <a:r>
              <a:rPr lang="en-US" sz="2400" dirty="0" smtClean="0"/>
              <a:t>Double</a:t>
            </a:r>
            <a:r>
              <a:rPr lang="en-US" sz="3600" dirty="0" smtClean="0"/>
              <a:t>, etc.)</a:t>
            </a:r>
            <a:endParaRPr lang="en-US" sz="3200" dirty="0" smtClean="0"/>
          </a:p>
          <a:p>
            <a:pPr lvl="1"/>
            <a:r>
              <a:rPr lang="en-US" sz="2400" dirty="0" err="1" smtClean="0"/>
              <a:t>Enum</a:t>
            </a:r>
            <a:endParaRPr lang="en-US" sz="32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1.8 Class Object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The </a:t>
            </a:r>
            <a:r>
              <a:rPr lang="en-US" b="1" dirty="0" err="1" smtClean="0"/>
              <a:t>superclass</a:t>
            </a:r>
            <a:r>
              <a:rPr lang="en-US" b="1" dirty="0" smtClean="0"/>
              <a:t> of all classes</a:t>
            </a:r>
            <a:r>
              <a:rPr lang="en-US" dirty="0" smtClean="0"/>
              <a:t> in Java.</a:t>
            </a:r>
          </a:p>
          <a:p>
            <a:pPr lvl="0"/>
            <a:r>
              <a:rPr lang="en-US" dirty="0" smtClean="0"/>
              <a:t>Methods: </a:t>
            </a:r>
            <a:r>
              <a:rPr lang="en-US" dirty="0" err="1" smtClean="0"/>
              <a:t>toString</a:t>
            </a:r>
            <a:r>
              <a:rPr lang="en-US" dirty="0" smtClean="0"/>
              <a:t>(), equals(), </a:t>
            </a:r>
            <a:r>
              <a:rPr lang="en-US" dirty="0" err="1" smtClean="0"/>
              <a:t>hashCode</a:t>
            </a:r>
            <a:r>
              <a:rPr lang="en-US" dirty="0" smtClean="0"/>
              <a:t>(), </a:t>
            </a:r>
            <a:r>
              <a:rPr lang="en-US" dirty="0" err="1" smtClean="0"/>
              <a:t>getClass</a:t>
            </a:r>
            <a:r>
              <a:rPr lang="en-US" dirty="0" smtClean="0"/>
              <a:t>().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1.9 Enumeration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Special class for defining constants.</a:t>
            </a:r>
          </a:p>
          <a:p>
            <a:r>
              <a:rPr lang="en-US" sz="2400" dirty="0" err="1" smtClean="0"/>
              <a:t>enum</a:t>
            </a:r>
            <a:r>
              <a:rPr lang="en-US" sz="2400" dirty="0" smtClean="0"/>
              <a:t> Direction { NORTH, SOUTH, EAST, WEST }</a:t>
            </a:r>
          </a:p>
          <a:p>
            <a:r>
              <a:rPr lang="en-US" sz="2400" smtClean="0"/>
              <a:t> public </a:t>
            </a:r>
            <a:r>
              <a:rPr lang="en-US" sz="2400" dirty="0" smtClean="0"/>
              <a:t>class </a:t>
            </a:r>
            <a:r>
              <a:rPr lang="en-US" sz="2400" dirty="0" err="1" smtClean="0"/>
              <a:t>EnumDemo</a:t>
            </a:r>
            <a:r>
              <a:rPr lang="en-US" sz="2400" dirty="0" smtClean="0"/>
              <a:t> {</a:t>
            </a:r>
          </a:p>
          <a:p>
            <a:r>
              <a:rPr lang="en-US" sz="2400" dirty="0" smtClean="0"/>
              <a:t>    public static void main(String[] </a:t>
            </a:r>
            <a:r>
              <a:rPr lang="en-US" sz="2400" dirty="0" err="1" smtClean="0"/>
              <a:t>args</a:t>
            </a:r>
            <a:r>
              <a:rPr lang="en-US" sz="2400" dirty="0" smtClean="0"/>
              <a:t>) {</a:t>
            </a:r>
          </a:p>
          <a:p>
            <a:r>
              <a:rPr lang="en-US" sz="2400" dirty="0" smtClean="0"/>
              <a:t>        Direction d = </a:t>
            </a:r>
            <a:r>
              <a:rPr lang="en-US" sz="2400" dirty="0" err="1" smtClean="0"/>
              <a:t>Direction.NORTH</a:t>
            </a:r>
            <a:r>
              <a:rPr lang="en-US" sz="2400" dirty="0" smtClean="0"/>
              <a:t>;</a:t>
            </a:r>
          </a:p>
          <a:p>
            <a:r>
              <a:rPr lang="en-US" sz="2400" dirty="0" smtClean="0"/>
              <a:t>    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(d);</a:t>
            </a:r>
          </a:p>
          <a:p>
            <a:r>
              <a:rPr lang="en-US" sz="2400" dirty="0" smtClean="0"/>
              <a:t>    }</a:t>
            </a:r>
          </a:p>
          <a:p>
            <a:r>
              <a:rPr lang="en-US" sz="2400" dirty="0" smtClean="0"/>
              <a:t>}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1.10 Class Math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Provides </a:t>
            </a:r>
            <a:r>
              <a:rPr lang="en-US" b="1" dirty="0" smtClean="0"/>
              <a:t>mathematical functions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Methods: </a:t>
            </a:r>
            <a:r>
              <a:rPr lang="en-US" dirty="0" err="1" smtClean="0"/>
              <a:t>sqrt</a:t>
            </a:r>
            <a:r>
              <a:rPr lang="en-US" dirty="0" smtClean="0"/>
              <a:t>(), </a:t>
            </a:r>
            <a:r>
              <a:rPr lang="en-US" dirty="0" err="1" smtClean="0"/>
              <a:t>pow</a:t>
            </a:r>
            <a:r>
              <a:rPr lang="en-US" dirty="0" smtClean="0"/>
              <a:t>(), abs(), max(), min(), random().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1.11 Wrapper Classes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Used to wrap primitive data types into objects.</a:t>
            </a:r>
          </a:p>
          <a:p>
            <a:pPr lvl="0"/>
            <a:r>
              <a:rPr lang="en-US" dirty="0" smtClean="0"/>
              <a:t>Example: </a:t>
            </a:r>
            <a:r>
              <a:rPr lang="en-US" dirty="0" err="1" smtClean="0"/>
              <a:t>int</a:t>
            </a:r>
            <a:r>
              <a:rPr lang="en-US" dirty="0" smtClean="0"/>
              <a:t> → Integer, double → Double.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1.12 Auto-boxing and Auto-</a:t>
            </a:r>
            <a:r>
              <a:rPr lang="en-US" sz="4000" b="1" dirty="0" err="1" smtClean="0"/>
              <a:t>unboxing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err="1" smtClean="0"/>
              <a:t>Autoboxing</a:t>
            </a:r>
            <a:r>
              <a:rPr lang="en-US" b="1" dirty="0" smtClean="0"/>
              <a:t>:</a:t>
            </a:r>
            <a:r>
              <a:rPr lang="en-US" dirty="0" smtClean="0"/>
              <a:t> automatic conversion of primitive → wrapper.</a:t>
            </a:r>
          </a:p>
          <a:p>
            <a:pPr lvl="0"/>
            <a:r>
              <a:rPr lang="en-US" b="1" dirty="0" err="1" smtClean="0"/>
              <a:t>Unboxing</a:t>
            </a:r>
            <a:r>
              <a:rPr lang="en-US" b="1" dirty="0" smtClean="0"/>
              <a:t>:</a:t>
            </a:r>
            <a:r>
              <a:rPr lang="en-US" dirty="0" smtClean="0"/>
              <a:t> wrapper → primitive.</a:t>
            </a:r>
          </a:p>
          <a:p>
            <a:r>
              <a:rPr lang="en-US" dirty="0" smtClean="0"/>
              <a:t>Integer </a:t>
            </a:r>
            <a:r>
              <a:rPr lang="en-US" dirty="0" err="1" smtClean="0"/>
              <a:t>i</a:t>
            </a:r>
            <a:r>
              <a:rPr lang="en-US" dirty="0" smtClean="0"/>
              <a:t> = 10;    // </a:t>
            </a:r>
            <a:r>
              <a:rPr lang="en-US" dirty="0" err="1" smtClean="0"/>
              <a:t>autoboxing</a:t>
            </a:r>
            <a:endParaRPr lang="en-US" dirty="0" smtClean="0"/>
          </a:p>
          <a:p>
            <a:r>
              <a:rPr lang="en-US" dirty="0" err="1" smtClean="0"/>
              <a:t>int</a:t>
            </a:r>
            <a:r>
              <a:rPr lang="en-US" dirty="0" smtClean="0"/>
              <a:t> x = </a:t>
            </a:r>
            <a:r>
              <a:rPr lang="en-US" dirty="0" err="1" smtClean="0"/>
              <a:t>i</a:t>
            </a:r>
            <a:r>
              <a:rPr lang="en-US" dirty="0" smtClean="0"/>
              <a:t>;         // </a:t>
            </a:r>
            <a:r>
              <a:rPr lang="en-US" dirty="0" err="1" smtClean="0"/>
              <a:t>unboxing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1.13 Java </a:t>
            </a:r>
            <a:r>
              <a:rPr lang="en-US" sz="4000" b="1" dirty="0" err="1" smtClean="0"/>
              <a:t>util</a:t>
            </a:r>
            <a:r>
              <a:rPr lang="en-US" sz="4000" b="1" dirty="0" smtClean="0"/>
              <a:t> Classes and Interfaces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ArrayList</a:t>
            </a:r>
            <a:r>
              <a:rPr lang="en-US" dirty="0" smtClean="0"/>
              <a:t>, </a:t>
            </a:r>
            <a:r>
              <a:rPr lang="en-US" dirty="0" err="1" smtClean="0"/>
              <a:t>HashMap</a:t>
            </a:r>
            <a:r>
              <a:rPr lang="en-US" dirty="0" smtClean="0"/>
              <a:t>, Collections, Date, Scanner, etc.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1.14 Formatter Class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Used for </a:t>
            </a:r>
            <a:r>
              <a:rPr lang="en-US" b="1" dirty="0" smtClean="0"/>
              <a:t>formatted output</a:t>
            </a:r>
            <a:r>
              <a:rPr lang="en-US" dirty="0" smtClean="0"/>
              <a:t> (like </a:t>
            </a:r>
            <a:r>
              <a:rPr lang="en-US" dirty="0" err="1" smtClean="0"/>
              <a:t>printf</a:t>
            </a:r>
            <a:r>
              <a:rPr lang="en-US" dirty="0" smtClean="0"/>
              <a:t>).</a:t>
            </a:r>
          </a:p>
          <a:p>
            <a:r>
              <a:rPr lang="en-US" dirty="0" err="1" smtClean="0"/>
              <a:t>System.out.printf</a:t>
            </a:r>
            <a:r>
              <a:rPr lang="en-US" dirty="0" smtClean="0"/>
              <a:t>("Value: %.2f", 12.3456);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1.15 Random Class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Used to generate random numbers.</a:t>
            </a:r>
          </a:p>
          <a:p>
            <a:r>
              <a:rPr lang="en-US" dirty="0" smtClean="0"/>
              <a:t>Random r = new Random();</a:t>
            </a:r>
          </a:p>
          <a:p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r.nextInt</a:t>
            </a:r>
            <a:r>
              <a:rPr lang="en-US" dirty="0" smtClean="0"/>
              <a:t>(100));  // 0-99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1.16 Time Package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 smtClean="0"/>
              <a:t>In </a:t>
            </a:r>
            <a:r>
              <a:rPr lang="en-US" sz="2800" b="1" dirty="0" smtClean="0"/>
              <a:t>Java</a:t>
            </a:r>
            <a:r>
              <a:rPr lang="en-US" sz="2800" dirty="0" smtClean="0"/>
              <a:t>, the </a:t>
            </a:r>
            <a:r>
              <a:rPr lang="en-US" sz="2800" b="1" dirty="0" smtClean="0"/>
              <a:t>time package</a:t>
            </a:r>
            <a:r>
              <a:rPr lang="en-US" sz="2800" dirty="0" smtClean="0"/>
              <a:t> is part of the </a:t>
            </a:r>
            <a:r>
              <a:rPr lang="en-US" sz="2800" dirty="0" err="1" smtClean="0"/>
              <a:t>java.time</a:t>
            </a:r>
            <a:r>
              <a:rPr lang="en-US" sz="2800" dirty="0" smtClean="0"/>
              <a:t> package introduced in </a:t>
            </a:r>
            <a:r>
              <a:rPr lang="en-US" sz="2800" b="1" dirty="0" smtClean="0"/>
              <a:t>Java 8</a:t>
            </a:r>
            <a:r>
              <a:rPr lang="en-US" sz="2800" dirty="0" smtClean="0"/>
              <a:t> as a modern replacement for the older </a:t>
            </a:r>
            <a:r>
              <a:rPr lang="en-US" sz="2800" dirty="0" err="1" smtClean="0"/>
              <a:t>java.util.Date</a:t>
            </a:r>
            <a:r>
              <a:rPr lang="en-US" sz="2800" dirty="0" smtClean="0"/>
              <a:t> and </a:t>
            </a:r>
            <a:r>
              <a:rPr lang="en-US" sz="2800" dirty="0" err="1" smtClean="0"/>
              <a:t>java.util.Calendar</a:t>
            </a:r>
            <a:r>
              <a:rPr lang="en-US" sz="2800" dirty="0" smtClean="0"/>
              <a:t>.</a:t>
            </a:r>
          </a:p>
          <a:p>
            <a:pPr lvl="0"/>
            <a:r>
              <a:rPr lang="en-US" sz="2800" dirty="0" smtClean="0"/>
              <a:t> It provides classes to handle </a:t>
            </a:r>
            <a:r>
              <a:rPr lang="en-US" sz="2800" b="1" dirty="0" smtClean="0"/>
              <a:t>dates, times, durations, periods, and time zones</a:t>
            </a:r>
            <a:r>
              <a:rPr lang="en-US" sz="2800" dirty="0" smtClean="0"/>
              <a:t> in a more clear, immutable, and thread-safe way.</a:t>
            </a:r>
          </a:p>
          <a:p>
            <a:pPr lvl="0"/>
            <a:r>
              <a:rPr lang="en-US" sz="2800" dirty="0" smtClean="0"/>
              <a:t>Introduced in Java 8 (</a:t>
            </a:r>
            <a:r>
              <a:rPr lang="en-US" sz="2800" dirty="0" err="1" smtClean="0"/>
              <a:t>java.time</a:t>
            </a:r>
            <a:r>
              <a:rPr lang="en-US" sz="2800" dirty="0" smtClean="0"/>
              <a:t>).</a:t>
            </a:r>
          </a:p>
          <a:p>
            <a:pPr lvl="0"/>
            <a:r>
              <a:rPr lang="en-US" sz="2800" dirty="0" smtClean="0"/>
              <a:t>Classes: </a:t>
            </a:r>
            <a:r>
              <a:rPr lang="en-US" sz="2800" dirty="0" err="1" smtClean="0"/>
              <a:t>LocalDate</a:t>
            </a:r>
            <a:r>
              <a:rPr lang="en-US" sz="2800" dirty="0" smtClean="0"/>
              <a:t>, </a:t>
            </a:r>
            <a:r>
              <a:rPr lang="en-US" sz="2800" dirty="0" err="1" smtClean="0"/>
              <a:t>LocalTime</a:t>
            </a:r>
            <a:r>
              <a:rPr lang="en-US" sz="2800" dirty="0" smtClean="0"/>
              <a:t>, </a:t>
            </a:r>
            <a:r>
              <a:rPr lang="en-US" sz="2800" dirty="0" err="1" smtClean="0"/>
              <a:t>LocalDateTime</a:t>
            </a:r>
            <a:r>
              <a:rPr lang="en-US" sz="2800" dirty="0" smtClean="0"/>
              <a:t>, Instant.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1.17 Class Instant (</a:t>
            </a:r>
            <a:r>
              <a:rPr lang="en-US" sz="4000" b="1" dirty="0" err="1" smtClean="0"/>
              <a:t>java.time.Instant</a:t>
            </a:r>
            <a:r>
              <a:rPr lang="en-US" sz="4000" b="1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 smtClean="0"/>
              <a:t>The </a:t>
            </a:r>
            <a:r>
              <a:rPr lang="en-US" sz="2800" b="1" dirty="0" smtClean="0"/>
              <a:t>Instant</a:t>
            </a:r>
            <a:r>
              <a:rPr lang="en-US" sz="2800" dirty="0" smtClean="0"/>
              <a:t> class in </a:t>
            </a:r>
            <a:r>
              <a:rPr lang="en-US" sz="2800" b="1" dirty="0" smtClean="0"/>
              <a:t>Java</a:t>
            </a:r>
            <a:r>
              <a:rPr lang="en-US" sz="2800" dirty="0" smtClean="0"/>
              <a:t> is part of the </a:t>
            </a:r>
            <a:r>
              <a:rPr lang="en-US" sz="2800" dirty="0" err="1" smtClean="0"/>
              <a:t>java.time</a:t>
            </a:r>
            <a:r>
              <a:rPr lang="en-US" sz="2800" dirty="0" smtClean="0"/>
              <a:t> package and represents a </a:t>
            </a:r>
            <a:r>
              <a:rPr lang="en-US" sz="2800" b="1" dirty="0" smtClean="0"/>
              <a:t>specific point on the timeline</a:t>
            </a:r>
            <a:r>
              <a:rPr lang="en-US" sz="2800" dirty="0" smtClean="0"/>
              <a:t>, i.e., a </a:t>
            </a:r>
            <a:r>
              <a:rPr lang="en-US" sz="2800" b="1" dirty="0" smtClean="0"/>
              <a:t>timestamp</a:t>
            </a:r>
            <a:r>
              <a:rPr lang="en-US" sz="2800" dirty="0" smtClean="0"/>
              <a:t> in UTC (Coordinated Universal Time). </a:t>
            </a:r>
          </a:p>
          <a:p>
            <a:pPr lvl="0"/>
            <a:r>
              <a:rPr lang="en-US" sz="2800" dirty="0" smtClean="0"/>
              <a:t>It is </a:t>
            </a:r>
            <a:r>
              <a:rPr lang="en-US" sz="2800" b="1" dirty="0" smtClean="0"/>
              <a:t>immutable</a:t>
            </a:r>
            <a:r>
              <a:rPr lang="en-US" sz="2800" dirty="0" smtClean="0"/>
              <a:t> and </a:t>
            </a:r>
            <a:r>
              <a:rPr lang="en-US" sz="2800" b="1" dirty="0" smtClean="0"/>
              <a:t>thread-safe</a:t>
            </a:r>
            <a:r>
              <a:rPr lang="en-US" sz="2800" dirty="0" smtClean="0"/>
              <a:t>, making it better than </a:t>
            </a:r>
            <a:r>
              <a:rPr lang="en-US" sz="2800" dirty="0" err="1" smtClean="0"/>
              <a:t>java.util.Date</a:t>
            </a:r>
            <a:r>
              <a:rPr lang="en-US" sz="2800" dirty="0" smtClean="0"/>
              <a:t>.</a:t>
            </a:r>
          </a:p>
          <a:p>
            <a:pPr lvl="0"/>
            <a:r>
              <a:rPr lang="en-US" sz="2800" dirty="0" smtClean="0"/>
              <a:t>Represents a </a:t>
            </a:r>
            <a:r>
              <a:rPr lang="en-US" sz="2800" b="1" dirty="0" smtClean="0"/>
              <a:t>moment in UTC time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Instant now = </a:t>
            </a:r>
            <a:r>
              <a:rPr lang="en-US" sz="2800" dirty="0" err="1" smtClean="0"/>
              <a:t>Instant.now</a:t>
            </a:r>
            <a:r>
              <a:rPr lang="en-US" sz="2800" dirty="0" smtClean="0"/>
              <a:t>();</a:t>
            </a:r>
          </a:p>
          <a:p>
            <a:r>
              <a:rPr lang="en-US" sz="2800" dirty="0" err="1" smtClean="0"/>
              <a:t>System.out.println</a:t>
            </a:r>
            <a:r>
              <a:rPr lang="en-US" sz="2800" dirty="0" smtClean="0"/>
              <a:t>(now);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1.18 Formatting for Date/Time in Java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</a:t>
            </a:r>
            <a:r>
              <a:rPr lang="en-US" sz="2400" b="1" dirty="0" smtClean="0"/>
              <a:t>Java</a:t>
            </a:r>
            <a:r>
              <a:rPr lang="en-US" sz="2400" dirty="0" smtClean="0"/>
              <a:t>, </a:t>
            </a:r>
            <a:r>
              <a:rPr lang="en-US" sz="2400" b="1" dirty="0" smtClean="0"/>
              <a:t>formatting date and time</a:t>
            </a:r>
            <a:r>
              <a:rPr lang="en-US" sz="2400" dirty="0" smtClean="0"/>
              <a:t> means converting date/time objects into a </a:t>
            </a:r>
            <a:r>
              <a:rPr lang="en-US" sz="2400" b="1" dirty="0" smtClean="0"/>
              <a:t>human-readable string</a:t>
            </a:r>
            <a:r>
              <a:rPr lang="en-US" sz="2400" dirty="0" smtClean="0"/>
              <a:t> or parsing strings into date/time objects. Since Java 8, the </a:t>
            </a:r>
            <a:r>
              <a:rPr lang="en-US" sz="2400" dirty="0" err="1" smtClean="0"/>
              <a:t>java.time</a:t>
            </a:r>
            <a:r>
              <a:rPr lang="en-US" sz="2400" dirty="0" smtClean="0"/>
              <a:t> package provides a modern API using </a:t>
            </a:r>
            <a:r>
              <a:rPr lang="en-US" sz="2400" b="1" dirty="0" err="1" smtClean="0"/>
              <a:t>DateTimeFormatter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/>
              <a:t>1. Using </a:t>
            </a:r>
            <a:r>
              <a:rPr lang="en-US" sz="2400" b="1" dirty="0" err="1" smtClean="0"/>
              <a:t>DateTimeFormatter</a:t>
            </a:r>
            <a:endParaRPr lang="en-US" sz="2400" b="1" dirty="0" smtClean="0"/>
          </a:p>
          <a:p>
            <a:r>
              <a:rPr lang="en-US" sz="2400" dirty="0" err="1" smtClean="0"/>
              <a:t>DateTimeFormatter</a:t>
            </a:r>
            <a:r>
              <a:rPr lang="en-US" sz="2400" dirty="0" smtClean="0"/>
              <a:t> is immutable and thread-safe. You can define </a:t>
            </a:r>
            <a:r>
              <a:rPr lang="en-US" sz="2400" b="1" dirty="0" smtClean="0"/>
              <a:t>predefined formats</a:t>
            </a:r>
            <a:r>
              <a:rPr lang="en-US" sz="2400" dirty="0" smtClean="0"/>
              <a:t> or </a:t>
            </a:r>
            <a:r>
              <a:rPr lang="en-US" sz="2400" b="1" dirty="0" smtClean="0"/>
              <a:t>custom patterns</a:t>
            </a:r>
            <a:r>
              <a:rPr lang="en-US" sz="2400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1.19 Temporal Adjusters Class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The </a:t>
            </a:r>
            <a:r>
              <a:rPr lang="en-US" sz="2400" b="1" dirty="0" err="1" smtClean="0"/>
              <a:t>TemporalAdjusters</a:t>
            </a:r>
            <a:r>
              <a:rPr lang="en-US" sz="2400" dirty="0" smtClean="0"/>
              <a:t> class in </a:t>
            </a:r>
            <a:r>
              <a:rPr lang="en-US" sz="2400" b="1" dirty="0" smtClean="0"/>
              <a:t>Java (</a:t>
            </a:r>
            <a:r>
              <a:rPr lang="en-US" sz="2400" b="1" dirty="0" err="1" smtClean="0"/>
              <a:t>java.time.temporal.TemporalAdjusters</a:t>
            </a:r>
            <a:r>
              <a:rPr lang="en-US" sz="2400" b="1" dirty="0" smtClean="0"/>
              <a:t>)</a:t>
            </a:r>
            <a:r>
              <a:rPr lang="en-US" sz="2400" dirty="0" smtClean="0"/>
              <a:t> provides a set of </a:t>
            </a:r>
            <a:r>
              <a:rPr lang="en-US" sz="2400" b="1" dirty="0" smtClean="0"/>
              <a:t>static utility methods</a:t>
            </a:r>
            <a:r>
              <a:rPr lang="en-US" sz="2400" dirty="0" smtClean="0"/>
              <a:t> to perform common </a:t>
            </a:r>
            <a:r>
              <a:rPr lang="en-US" sz="2400" b="1" dirty="0" smtClean="0"/>
              <a:t>date adjustments</a:t>
            </a:r>
            <a:r>
              <a:rPr lang="en-US" sz="2400" dirty="0" smtClean="0"/>
              <a:t> on objects that implement the Temporal interface (like </a:t>
            </a:r>
            <a:r>
              <a:rPr lang="en-US" sz="2400" dirty="0" err="1" smtClean="0"/>
              <a:t>LocalDate</a:t>
            </a:r>
            <a:r>
              <a:rPr lang="en-US" sz="2400" dirty="0" smtClean="0"/>
              <a:t> or </a:t>
            </a:r>
            <a:r>
              <a:rPr lang="en-US" sz="2400" dirty="0" err="1" smtClean="0"/>
              <a:t>LocalDateTime</a:t>
            </a:r>
            <a:r>
              <a:rPr lang="en-US" sz="2400" dirty="0" smtClean="0"/>
              <a:t>). </a:t>
            </a:r>
          </a:p>
          <a:p>
            <a:pPr lvl="0"/>
            <a:r>
              <a:rPr lang="en-US" sz="2400" dirty="0" smtClean="0"/>
              <a:t>It’s very useful for getting the </a:t>
            </a:r>
            <a:r>
              <a:rPr lang="en-US" sz="2400" b="1" dirty="0" smtClean="0"/>
              <a:t>first/last day of a month, next Monday, etc.</a:t>
            </a:r>
            <a:r>
              <a:rPr lang="en-US" sz="2400" dirty="0" smtClean="0"/>
              <a:t> without manual calculations.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Exception Handling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2.1 Introduction</a:t>
            </a:r>
            <a:endParaRPr lang="en-US" dirty="0" smtClean="0"/>
          </a:p>
          <a:p>
            <a:pPr lvl="0"/>
            <a:r>
              <a:rPr lang="en-US" dirty="0" smtClean="0"/>
              <a:t>Exceptions are </a:t>
            </a:r>
            <a:r>
              <a:rPr lang="en-US" b="1" dirty="0" smtClean="0"/>
              <a:t>errors that occur during runtime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Exception handling ensures smooth program execution.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2.2 Hierarchy of Standard Exception Classes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err="1" smtClean="0"/>
              <a:t>Throwable</a:t>
            </a:r>
            <a:r>
              <a:rPr lang="en-US" dirty="0" smtClean="0"/>
              <a:t> (</a:t>
            </a:r>
            <a:r>
              <a:rPr lang="en-US" dirty="0" err="1" smtClean="0"/>
              <a:t>superclass</a:t>
            </a:r>
            <a:r>
              <a:rPr lang="en-US" dirty="0" smtClean="0"/>
              <a:t>)</a:t>
            </a:r>
            <a:endParaRPr lang="en-US" sz="2800" dirty="0" smtClean="0"/>
          </a:p>
          <a:p>
            <a:pPr lvl="1"/>
            <a:r>
              <a:rPr lang="en-US" b="1" dirty="0" smtClean="0"/>
              <a:t>Error</a:t>
            </a:r>
            <a:r>
              <a:rPr lang="en-US" dirty="0" smtClean="0"/>
              <a:t> (serious issues, not handled)</a:t>
            </a:r>
            <a:endParaRPr lang="en-US" sz="2400" dirty="0" smtClean="0"/>
          </a:p>
          <a:p>
            <a:pPr lvl="1"/>
            <a:r>
              <a:rPr lang="en-US" b="1" dirty="0" smtClean="0"/>
              <a:t>Exception</a:t>
            </a:r>
            <a:endParaRPr lang="en-US" sz="2400" dirty="0" smtClean="0"/>
          </a:p>
          <a:p>
            <a:pPr lvl="2"/>
            <a:r>
              <a:rPr lang="en-US" b="1" dirty="0" smtClean="0"/>
              <a:t>Checked Exceptions</a:t>
            </a:r>
            <a:r>
              <a:rPr lang="en-US" dirty="0" smtClean="0"/>
              <a:t> (must be handled)</a:t>
            </a:r>
            <a:endParaRPr lang="en-US" sz="2000" dirty="0" smtClean="0"/>
          </a:p>
          <a:p>
            <a:pPr lvl="2"/>
            <a:r>
              <a:rPr lang="en-US" b="1" dirty="0" smtClean="0"/>
              <a:t>Unchecked Exceptions</a:t>
            </a:r>
            <a:r>
              <a:rPr lang="en-US" dirty="0" smtClean="0"/>
              <a:t> (runtime errors)</a:t>
            </a:r>
            <a:endParaRPr lang="en-US" sz="20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2.3 Keywords throws and throw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throw</a:t>
            </a:r>
            <a:r>
              <a:rPr lang="en-US" dirty="0" smtClean="0"/>
              <a:t> → used to throw an exception manually.</a:t>
            </a:r>
          </a:p>
          <a:p>
            <a:pPr lvl="0"/>
            <a:r>
              <a:rPr lang="en-US" b="1" dirty="0" smtClean="0"/>
              <a:t>throws</a:t>
            </a:r>
            <a:r>
              <a:rPr lang="en-US" dirty="0" smtClean="0"/>
              <a:t> → declares exceptions in method signature.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2.4 try, catch, and finally Blocks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try {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int</a:t>
            </a:r>
            <a:r>
              <a:rPr lang="en-US" sz="2400" dirty="0" smtClean="0"/>
              <a:t> a = 10 / 0;</a:t>
            </a:r>
          </a:p>
          <a:p>
            <a:r>
              <a:rPr lang="en-US" sz="2400" dirty="0" smtClean="0"/>
              <a:t>} </a:t>
            </a:r>
            <a:r>
              <a:rPr lang="en-US" sz="2400" i="1" dirty="0" smtClean="0"/>
              <a:t>catch</a:t>
            </a:r>
            <a:r>
              <a:rPr lang="en-US" sz="2400" dirty="0" smtClean="0"/>
              <a:t> (</a:t>
            </a:r>
            <a:r>
              <a:rPr lang="en-US" sz="2400" dirty="0" err="1" smtClean="0"/>
              <a:t>ArithmeticException</a:t>
            </a:r>
            <a:r>
              <a:rPr lang="en-US" sz="2400" dirty="0" smtClean="0"/>
              <a:t> e) {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("Cannot divide by zero");</a:t>
            </a:r>
          </a:p>
          <a:p>
            <a:r>
              <a:rPr lang="en-US" sz="2400" dirty="0" smtClean="0"/>
              <a:t>} finally {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("Always executes");</a:t>
            </a:r>
          </a:p>
          <a:p>
            <a:r>
              <a:rPr lang="en-US" sz="2400" dirty="0" smtClean="0"/>
              <a:t>}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2.5 Multiple Catch Clauses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try {</a:t>
            </a:r>
          </a:p>
          <a:p>
            <a:r>
              <a:rPr lang="en-US" sz="2400" dirty="0" smtClean="0"/>
              <a:t>    String s = null;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</a:t>
            </a:r>
            <a:r>
              <a:rPr lang="en-US" sz="2400" dirty="0" err="1" smtClean="0"/>
              <a:t>s.length</a:t>
            </a:r>
            <a:r>
              <a:rPr lang="en-US" sz="2400" dirty="0" smtClean="0"/>
              <a:t>());</a:t>
            </a:r>
          </a:p>
          <a:p>
            <a:r>
              <a:rPr lang="en-US" sz="2400" dirty="0" smtClean="0"/>
              <a:t>} catch (</a:t>
            </a:r>
            <a:r>
              <a:rPr lang="en-US" sz="2400" dirty="0" err="1" smtClean="0"/>
              <a:t>ArithmeticException</a:t>
            </a:r>
            <a:r>
              <a:rPr lang="en-US" sz="2400" dirty="0" smtClean="0"/>
              <a:t> e) {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("Math error");</a:t>
            </a:r>
          </a:p>
          <a:p>
            <a:r>
              <a:rPr lang="en-US" sz="2400" dirty="0" smtClean="0"/>
              <a:t>} catch (</a:t>
            </a:r>
            <a:r>
              <a:rPr lang="en-US" sz="2400" dirty="0" err="1" smtClean="0"/>
              <a:t>NullPointerException</a:t>
            </a:r>
            <a:r>
              <a:rPr lang="en-US" sz="2400" dirty="0" smtClean="0"/>
              <a:t> e) {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System.out.println</a:t>
            </a:r>
            <a:r>
              <a:rPr lang="en-US" sz="2400" dirty="0" smtClean="0"/>
              <a:t>("Null error");</a:t>
            </a:r>
          </a:p>
          <a:p>
            <a:r>
              <a:rPr lang="en-US" sz="2400" dirty="0" smtClean="0"/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2.6 Class </a:t>
            </a:r>
            <a:r>
              <a:rPr lang="en-US" b="1" dirty="0" err="1" smtClean="0"/>
              <a:t>Throwable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Superclass</a:t>
            </a:r>
            <a:r>
              <a:rPr lang="en-US" dirty="0" smtClean="0"/>
              <a:t> for all exceptions and errors.</a:t>
            </a:r>
          </a:p>
          <a:p>
            <a:pPr lvl="0"/>
            <a:r>
              <a:rPr lang="en-US" dirty="0" smtClean="0"/>
              <a:t>Methods: </a:t>
            </a:r>
            <a:r>
              <a:rPr lang="en-US" dirty="0" err="1" smtClean="0"/>
              <a:t>getMessage</a:t>
            </a:r>
            <a:r>
              <a:rPr lang="en-US" dirty="0" smtClean="0"/>
              <a:t>(), </a:t>
            </a:r>
            <a:r>
              <a:rPr lang="en-US" dirty="0" err="1" smtClean="0"/>
              <a:t>printStackTrace</a:t>
            </a:r>
            <a:r>
              <a:rPr lang="en-US" dirty="0" smtClean="0"/>
              <a:t>().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2.7 Unchecked Exceptions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Subclass of </a:t>
            </a:r>
            <a:r>
              <a:rPr lang="en-US" dirty="0" err="1" smtClean="0"/>
              <a:t>RuntimeException</a:t>
            </a:r>
            <a:r>
              <a:rPr lang="en-US" dirty="0" smtClean="0"/>
              <a:t>.</a:t>
            </a:r>
          </a:p>
          <a:p>
            <a:pPr lvl="0"/>
            <a:r>
              <a:rPr lang="en-US" dirty="0" smtClean="0"/>
              <a:t>Example: </a:t>
            </a:r>
            <a:r>
              <a:rPr lang="en-US" dirty="0" err="1" smtClean="0"/>
              <a:t>NullPointerException</a:t>
            </a:r>
            <a:r>
              <a:rPr lang="en-US" dirty="0" smtClean="0"/>
              <a:t>, </a:t>
            </a:r>
            <a:r>
              <a:rPr lang="en-US" dirty="0" err="1" smtClean="0"/>
              <a:t>ArrayIndexOutOfBoundsException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2.8 Checked Exceptions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Must be handled using try-catch or throws.</a:t>
            </a:r>
          </a:p>
          <a:p>
            <a:pPr lvl="0"/>
            <a:r>
              <a:rPr lang="en-US" dirty="0" smtClean="0"/>
              <a:t>Example: </a:t>
            </a:r>
            <a:r>
              <a:rPr lang="en-US" dirty="0" err="1" smtClean="0"/>
              <a:t>IOException</a:t>
            </a:r>
            <a:r>
              <a:rPr lang="en-US" dirty="0" smtClean="0"/>
              <a:t>, </a:t>
            </a:r>
            <a:r>
              <a:rPr lang="en-US" dirty="0" err="1" smtClean="0"/>
              <a:t>SQLException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 Java I/O and File Handling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3.1 Java I/O API</a:t>
            </a:r>
            <a:endParaRPr lang="en-US" dirty="0" smtClean="0"/>
          </a:p>
          <a:p>
            <a:pPr lvl="0"/>
            <a:r>
              <a:rPr lang="en-US" dirty="0" smtClean="0"/>
              <a:t>Provides classes for </a:t>
            </a:r>
            <a:r>
              <a:rPr lang="en-US" b="1" dirty="0" smtClean="0"/>
              <a:t>input/output</a:t>
            </a:r>
            <a:r>
              <a:rPr lang="en-US" dirty="0" smtClean="0"/>
              <a:t> operations.</a:t>
            </a:r>
          </a:p>
          <a:p>
            <a:pPr lvl="0"/>
            <a:r>
              <a:rPr lang="en-US" dirty="0" smtClean="0"/>
              <a:t>Located in java.io package.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3.2 Standard I/O Streams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err="1" smtClean="0"/>
              <a:t>System.in</a:t>
            </a:r>
            <a:r>
              <a:rPr lang="en-US" dirty="0" smtClean="0"/>
              <a:t> → standard input.</a:t>
            </a:r>
          </a:p>
          <a:p>
            <a:pPr lvl="0"/>
            <a:r>
              <a:rPr lang="en-US" b="1" dirty="0" err="1" smtClean="0"/>
              <a:t>System.out</a:t>
            </a:r>
            <a:r>
              <a:rPr lang="en-US" dirty="0" smtClean="0"/>
              <a:t> → standard output.</a:t>
            </a:r>
          </a:p>
          <a:p>
            <a:pPr lvl="0"/>
            <a:r>
              <a:rPr lang="en-US" b="1" dirty="0" smtClean="0"/>
              <a:t>System.err</a:t>
            </a:r>
            <a:r>
              <a:rPr lang="en-US" dirty="0" smtClean="0"/>
              <a:t> → standard error.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3.3 Types of Streams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Byte Streams</a:t>
            </a:r>
            <a:r>
              <a:rPr lang="en-US" dirty="0" smtClean="0"/>
              <a:t> (</a:t>
            </a:r>
            <a:r>
              <a:rPr lang="en-US" dirty="0" err="1" smtClean="0"/>
              <a:t>InputStream</a:t>
            </a:r>
            <a:r>
              <a:rPr lang="en-US" dirty="0" smtClean="0"/>
              <a:t>, </a:t>
            </a:r>
            <a:r>
              <a:rPr lang="en-US" dirty="0" err="1" smtClean="0"/>
              <a:t>OutputStream</a:t>
            </a:r>
            <a:r>
              <a:rPr lang="en-US" dirty="0" smtClean="0"/>
              <a:t>)</a:t>
            </a:r>
          </a:p>
          <a:p>
            <a:pPr lvl="0"/>
            <a:r>
              <a:rPr lang="en-US" b="1" dirty="0" smtClean="0"/>
              <a:t>Character Streams</a:t>
            </a:r>
            <a:r>
              <a:rPr lang="en-US" dirty="0" smtClean="0"/>
              <a:t> (Reader, Writer)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3.4 </a:t>
            </a:r>
            <a:r>
              <a:rPr lang="en-IN" dirty="0" err="1" smtClean="0"/>
              <a:t>Bytestreams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4389" y="1734046"/>
            <a:ext cx="7135221" cy="4258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3.5 Character Streams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Character Streams in Java</a:t>
            </a:r>
            <a:r>
              <a:rPr lang="en-US" dirty="0" smtClean="0"/>
              <a:t> are used to perform </a:t>
            </a:r>
            <a:r>
              <a:rPr lang="en-US" b="1" dirty="0" smtClean="0"/>
              <a:t>input and output (I/O) of text data</a:t>
            </a:r>
            <a:r>
              <a:rPr lang="en-US" dirty="0" smtClean="0"/>
              <a:t>, that is, data made up of </a:t>
            </a:r>
            <a:r>
              <a:rPr lang="en-US" b="1" dirty="0" smtClean="0"/>
              <a:t>characters (letters, digits, symbols, etc</a:t>
            </a:r>
            <a:r>
              <a:rPr lang="en-US" b="1" dirty="0" smtClean="0"/>
              <a:t>.)</a:t>
            </a:r>
            <a:r>
              <a:rPr lang="en-US" dirty="0" smtClean="0"/>
              <a:t>.</a:t>
            </a:r>
            <a:endParaRPr lang="en-IN" dirty="0" smtClean="0"/>
          </a:p>
          <a:p>
            <a:r>
              <a:rPr lang="en-US" b="1" dirty="0" smtClean="0"/>
              <a:t>Definition</a:t>
            </a:r>
          </a:p>
          <a:p>
            <a:r>
              <a:rPr lang="en-US" dirty="0" smtClean="0"/>
              <a:t>Character streams handle I/O of characters (text data).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3.5 Character Streams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7678" y="2629521"/>
            <a:ext cx="7468643" cy="2467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3.6 </a:t>
            </a:r>
            <a:r>
              <a:rPr lang="en-US" dirty="0" smtClean="0"/>
              <a:t>Files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Files in Java</a:t>
            </a:r>
          </a:p>
          <a:p>
            <a:r>
              <a:rPr lang="en-US" dirty="0" smtClean="0"/>
              <a:t>In Java, </a:t>
            </a:r>
            <a:r>
              <a:rPr lang="en-US" b="1" dirty="0" smtClean="0"/>
              <a:t>files</a:t>
            </a:r>
            <a:r>
              <a:rPr lang="en-US" dirty="0" smtClean="0"/>
              <a:t> are used to </a:t>
            </a:r>
            <a:r>
              <a:rPr lang="en-US" b="1" dirty="0" smtClean="0"/>
              <a:t>store and retrieve data</a:t>
            </a:r>
            <a:r>
              <a:rPr lang="en-US" dirty="0" smtClean="0"/>
              <a:t> permanently from the file system (like hard disk).</a:t>
            </a:r>
            <a:br>
              <a:rPr lang="en-US" dirty="0" smtClean="0"/>
            </a:br>
            <a:r>
              <a:rPr lang="en-US" dirty="0" smtClean="0"/>
              <a:t>Java provides the </a:t>
            </a:r>
            <a:r>
              <a:rPr lang="en-US" b="1" dirty="0" smtClean="0"/>
              <a:t>java.io</a:t>
            </a:r>
            <a:r>
              <a:rPr lang="en-US" dirty="0" smtClean="0"/>
              <a:t> and </a:t>
            </a:r>
            <a:r>
              <a:rPr lang="en-US" b="1" dirty="0" err="1" smtClean="0"/>
              <a:t>java.nio.file</a:t>
            </a:r>
            <a:r>
              <a:rPr lang="en-US" dirty="0" smtClean="0"/>
              <a:t> packages to handle file operations such as </a:t>
            </a:r>
            <a:r>
              <a:rPr lang="en-US" b="1" dirty="0" smtClean="0"/>
              <a:t>creating, reading, writing, and deleting</a:t>
            </a:r>
            <a:r>
              <a:rPr lang="en-US" dirty="0" smtClean="0"/>
              <a:t> files.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3.6 </a:t>
            </a:r>
            <a:r>
              <a:rPr lang="en-US" dirty="0" smtClean="0"/>
              <a:t>Files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What is a File in Java?</a:t>
            </a:r>
          </a:p>
          <a:p>
            <a:r>
              <a:rPr lang="en-US" dirty="0" smtClean="0"/>
              <a:t>A file is a named location on the disk to store data permanently.</a:t>
            </a:r>
            <a:br>
              <a:rPr lang="en-US" dirty="0" smtClean="0"/>
            </a:br>
            <a:r>
              <a:rPr lang="en-US" dirty="0" smtClean="0"/>
              <a:t>Java provides the File class to represent and manipulate files and directories.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3.6 </a:t>
            </a:r>
            <a:r>
              <a:rPr lang="en-US" dirty="0" smtClean="0"/>
              <a:t>Files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The File Class</a:t>
            </a:r>
          </a:p>
          <a:p>
            <a:r>
              <a:rPr lang="en-US" dirty="0" smtClean="0"/>
              <a:t>Package: java.io</a:t>
            </a:r>
          </a:p>
          <a:p>
            <a:r>
              <a:rPr lang="en-US" dirty="0" smtClean="0"/>
              <a:t>Class: </a:t>
            </a:r>
            <a:r>
              <a:rPr lang="en-US" dirty="0" err="1" smtClean="0"/>
              <a:t>java.io.File</a:t>
            </a:r>
            <a:endParaRPr lang="en-US" dirty="0" smtClean="0"/>
          </a:p>
          <a:p>
            <a:r>
              <a:rPr lang="en-US" dirty="0" smtClean="0"/>
              <a:t>Used to create, delete, and get information about files and directories.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3.6 </a:t>
            </a:r>
            <a:r>
              <a:rPr lang="en-US" dirty="0" smtClean="0"/>
              <a:t>Files in Java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18864" y="2086521"/>
            <a:ext cx="5706272" cy="3553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1180</Words>
  <Application>Microsoft Office PowerPoint</Application>
  <PresentationFormat>On-screen Show (4:3)</PresentationFormat>
  <Paragraphs>174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Unit-4 Packages and Java Library</vt:lpstr>
      <vt:lpstr>Packages in Java</vt:lpstr>
      <vt:lpstr>Why use packages?</vt:lpstr>
      <vt:lpstr>Types of Packages </vt:lpstr>
      <vt:lpstr>Types of Packages</vt:lpstr>
      <vt:lpstr>1.2 Defining Package </vt:lpstr>
      <vt:lpstr>1.3 Importing Packages and Classes into Programs </vt:lpstr>
      <vt:lpstr>1.4 Path and Class Path </vt:lpstr>
      <vt:lpstr>1.4 Path and Class Path </vt:lpstr>
      <vt:lpstr>1.5 Access Control </vt:lpstr>
      <vt:lpstr>1.6 Packages in Java SE </vt:lpstr>
      <vt:lpstr>1.7 java.lang Package and its Classes </vt:lpstr>
      <vt:lpstr>1.8 Class Object </vt:lpstr>
      <vt:lpstr>1.9 Enumeration </vt:lpstr>
      <vt:lpstr>1.10 Class Math </vt:lpstr>
      <vt:lpstr>1.11 Wrapper Classes </vt:lpstr>
      <vt:lpstr>1.12 Auto-boxing and Auto-unboxing </vt:lpstr>
      <vt:lpstr>1.13 Java util Classes and Interfaces </vt:lpstr>
      <vt:lpstr>1.14 Formatter Class </vt:lpstr>
      <vt:lpstr>1.15 Random Class </vt:lpstr>
      <vt:lpstr>1.16 Time Package </vt:lpstr>
      <vt:lpstr>1.17 Class Instant (java.time.Instant) </vt:lpstr>
      <vt:lpstr>1.18 Formatting for Date/Time in Java </vt:lpstr>
      <vt:lpstr>1.19 Temporal Adjusters Class </vt:lpstr>
      <vt:lpstr>2. Exception Handling </vt:lpstr>
      <vt:lpstr>2.2 Hierarchy of Standard Exception Classes </vt:lpstr>
      <vt:lpstr>2.3 Keywords throws and throw </vt:lpstr>
      <vt:lpstr>2.4 try, catch, and finally Blocks </vt:lpstr>
      <vt:lpstr>2.5 Multiple Catch Clauses </vt:lpstr>
      <vt:lpstr>2.6 Class Throwable </vt:lpstr>
      <vt:lpstr>2.7 Unchecked Exceptions </vt:lpstr>
      <vt:lpstr>2.8 Checked Exceptions </vt:lpstr>
      <vt:lpstr>3. Java I/O and File Handling </vt:lpstr>
      <vt:lpstr>3.2 Standard I/O Streams </vt:lpstr>
      <vt:lpstr>3.3 Types of Streams </vt:lpstr>
      <vt:lpstr>3.4 Bytestreams</vt:lpstr>
      <vt:lpstr>3.5 Character Streams</vt:lpstr>
      <vt:lpstr>3.5 Character Streams</vt:lpstr>
      <vt:lpstr>3.6 Files in Java</vt:lpstr>
      <vt:lpstr>3.6 Files in Java</vt:lpstr>
      <vt:lpstr>3.6 Files in Java</vt:lpstr>
      <vt:lpstr>3.6 Files in Java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</dc:title>
  <dc:creator>USER</dc:creator>
  <cp:lastModifiedBy>USER</cp:lastModifiedBy>
  <cp:revision>277</cp:revision>
  <dcterms:created xsi:type="dcterms:W3CDTF">2025-08-16T06:30:43Z</dcterms:created>
  <dcterms:modified xsi:type="dcterms:W3CDTF">2025-10-17T10:10:49Z</dcterms:modified>
</cp:coreProperties>
</file>