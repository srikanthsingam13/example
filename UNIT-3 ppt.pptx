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4" r:id="rId59"/>
    <p:sldId id="315" r:id="rId60"/>
    <p:sldId id="313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5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 descr="idM5cEJz_6_logos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7215206" y="6000768"/>
            <a:ext cx="1543032" cy="5835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Unit-3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Oops through java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Declaration and Initialization of </a:t>
            </a:r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 Declaration of an Array</a:t>
            </a:r>
          </a:p>
          <a:p>
            <a:r>
              <a:rPr lang="en-US" dirty="0" smtClean="0"/>
              <a:t>When you declare an array, you tell Java what type of data it will hold and how to refer to it.</a:t>
            </a:r>
          </a:p>
          <a:p>
            <a:r>
              <a:rPr lang="en-US" b="1" dirty="0" smtClean="0"/>
              <a:t>Syntax:</a:t>
            </a:r>
            <a:endParaRPr lang="en-US" dirty="0" smtClean="0"/>
          </a:p>
          <a:p>
            <a:r>
              <a:rPr lang="en-US" dirty="0" err="1" smtClean="0"/>
              <a:t>dataType</a:t>
            </a:r>
            <a:r>
              <a:rPr lang="en-US" dirty="0" smtClean="0"/>
              <a:t>[] </a:t>
            </a:r>
            <a:r>
              <a:rPr lang="en-US" dirty="0" err="1" smtClean="0"/>
              <a:t>arrayName</a:t>
            </a:r>
            <a:r>
              <a:rPr lang="en-US" dirty="0" smtClean="0"/>
              <a:t>; // Preferred way </a:t>
            </a:r>
            <a:r>
              <a:rPr lang="en-US" dirty="0" err="1" smtClean="0"/>
              <a:t>dataType</a:t>
            </a:r>
            <a:r>
              <a:rPr lang="en-US" dirty="0" smtClean="0"/>
              <a:t> </a:t>
            </a:r>
            <a:r>
              <a:rPr lang="en-US" dirty="0" err="1" smtClean="0"/>
              <a:t>arrayName</a:t>
            </a:r>
            <a:r>
              <a:rPr lang="en-US" dirty="0" smtClean="0"/>
              <a:t>[]; // Also valid, but less common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[] numbers;      // Array of integers</a:t>
            </a:r>
          </a:p>
          <a:p>
            <a:r>
              <a:rPr lang="en-US" dirty="0" smtClean="0"/>
              <a:t>String[] names;     // Array of Strings</a:t>
            </a:r>
          </a:p>
          <a:p>
            <a:r>
              <a:rPr lang="en-US" dirty="0" smtClean="0"/>
              <a:t>double[] prices;    // Array of doubles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Initialization of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r>
              <a:rPr lang="en-US" dirty="0" smtClean="0"/>
              <a:t>There are two main ways to initialize an array.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(A) Separate Declaration and Initialization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[] </a:t>
            </a:r>
            <a:r>
              <a:rPr lang="en-US" dirty="0" err="1" smtClean="0"/>
              <a:t>arr</a:t>
            </a:r>
            <a:r>
              <a:rPr lang="en-US" dirty="0" smtClean="0"/>
              <a:t> = new </a:t>
            </a:r>
            <a:r>
              <a:rPr lang="en-US" dirty="0" err="1" smtClean="0"/>
              <a:t>int</a:t>
            </a:r>
            <a:r>
              <a:rPr lang="en-US" dirty="0" smtClean="0"/>
              <a:t>[3];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[0] = 10;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[1] = 20;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[2] = 30;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(B) Declaration with Initialization (Static Initialization)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When you already know the values: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int</a:t>
            </a:r>
            <a:r>
              <a:rPr lang="en-US" dirty="0" smtClean="0"/>
              <a:t>[] numbers = {10, 20, 30, 40, 50}; </a:t>
            </a:r>
          </a:p>
          <a:p>
            <a:r>
              <a:rPr lang="en-US" dirty="0" smtClean="0"/>
              <a:t>String[] names = {"Alice", "Bob", "Charlie"}; 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size is automatically determined by the number of elements.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2.Storage </a:t>
            </a:r>
            <a:r>
              <a:rPr lang="en-US" dirty="0"/>
              <a:t>of Array </a:t>
            </a:r>
            <a:r>
              <a:rPr lang="en-US" dirty="0" smtClean="0"/>
              <a:t>in </a:t>
            </a:r>
            <a:r>
              <a:rPr lang="en-US" dirty="0"/>
              <a:t>Computer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Array in Java is an object</a:t>
            </a:r>
            <a:r>
              <a:rPr lang="en-US" dirty="0" smtClean="0"/>
              <a:t>, so it’s stored in </a:t>
            </a:r>
            <a:r>
              <a:rPr lang="en-US" b="1" dirty="0" smtClean="0"/>
              <a:t>heap memory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Array name (</a:t>
            </a:r>
            <a:r>
              <a:rPr lang="en-US" b="1" dirty="0" err="1" smtClean="0"/>
              <a:t>refe</a:t>
            </a:r>
            <a:r>
              <a:rPr lang="en-US" b="1" dirty="0" smtClean="0"/>
              <a:t>--</a:t>
            </a:r>
            <a:r>
              <a:rPr lang="en-US" b="1" dirty="0" err="1" smtClean="0"/>
              <a:t>rence</a:t>
            </a:r>
            <a:r>
              <a:rPr lang="en-US" b="1" dirty="0" smtClean="0"/>
              <a:t>)</a:t>
            </a:r>
            <a:r>
              <a:rPr lang="en-US" dirty="0" smtClean="0"/>
              <a:t> is stored in </a:t>
            </a:r>
            <a:r>
              <a:rPr lang="en-US" b="1" dirty="0" smtClean="0"/>
              <a:t>stack memory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Elements are stored </a:t>
            </a:r>
            <a:r>
              <a:rPr lang="en-US" b="1" dirty="0" smtClean="0"/>
              <a:t>one after another (contiguous)</a:t>
            </a:r>
            <a:r>
              <a:rPr lang="en-US" dirty="0" smtClean="0"/>
              <a:t> in the heap.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[] </a:t>
            </a:r>
            <a:r>
              <a:rPr lang="en-US" dirty="0" err="1" smtClean="0"/>
              <a:t>arr</a:t>
            </a:r>
            <a:r>
              <a:rPr lang="en-US" dirty="0" smtClean="0"/>
              <a:t> = {10, 20, 30}; </a:t>
            </a:r>
          </a:p>
          <a:p>
            <a:r>
              <a:rPr lang="en-US" b="1" dirty="0" smtClean="0"/>
              <a:t>Stack</a:t>
            </a:r>
            <a:r>
              <a:rPr lang="en-US" dirty="0" smtClean="0"/>
              <a:t>: </a:t>
            </a:r>
            <a:r>
              <a:rPr lang="en-US" dirty="0" err="1" smtClean="0"/>
              <a:t>arr</a:t>
            </a:r>
            <a:r>
              <a:rPr lang="en-US" dirty="0" smtClean="0"/>
              <a:t> → points to heap</a:t>
            </a:r>
          </a:p>
          <a:p>
            <a:r>
              <a:rPr lang="en-US" b="1" dirty="0" smtClean="0"/>
              <a:t>Heap</a:t>
            </a:r>
            <a:r>
              <a:rPr lang="en-US" dirty="0" smtClean="0"/>
              <a:t>: [10] [20] [30] (continuous blocks)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3.Accessing </a:t>
            </a:r>
            <a:r>
              <a:rPr lang="en-US" dirty="0"/>
              <a:t>Elements</a:t>
            </a:r>
            <a:br>
              <a:rPr lang="en-US" dirty="0"/>
            </a:br>
            <a:r>
              <a:rPr lang="en-US" dirty="0"/>
              <a:t>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create an array in Java, its elements are stored in </a:t>
            </a:r>
            <a:r>
              <a:rPr lang="en-US" b="1" dirty="0" smtClean="0"/>
              <a:t>indexed positions</a:t>
            </a:r>
            <a:r>
              <a:rPr lang="en-US" dirty="0" smtClean="0"/>
              <a:t> starting from 0 (first element) up to length - 1 (last element).</a:t>
            </a:r>
            <a:br>
              <a:rPr lang="en-US" dirty="0" smtClean="0"/>
            </a:br>
            <a:r>
              <a:rPr lang="en-US" dirty="0" smtClean="0"/>
              <a:t>You can access any element by </a:t>
            </a:r>
            <a:r>
              <a:rPr lang="en-US" b="1" dirty="0" smtClean="0"/>
              <a:t>using its index</a:t>
            </a:r>
            <a:r>
              <a:rPr lang="en-US" dirty="0" smtClean="0"/>
              <a:t> with the array name.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Syntax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arrayName</a:t>
            </a:r>
            <a:r>
              <a:rPr lang="en-US" dirty="0" smtClean="0"/>
              <a:t>[index]; </a:t>
            </a:r>
          </a:p>
          <a:p>
            <a:r>
              <a:rPr lang="en-US" dirty="0" err="1" smtClean="0"/>
              <a:t>arrayName</a:t>
            </a:r>
            <a:r>
              <a:rPr lang="en-US" dirty="0" smtClean="0"/>
              <a:t> → Name of the array.</a:t>
            </a:r>
          </a:p>
          <a:p>
            <a:r>
              <a:rPr lang="en-US" dirty="0" smtClean="0"/>
              <a:t>index → Position of the element (starts from 0).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52153" y="1843599"/>
            <a:ext cx="6039693" cy="403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4.Operations </a:t>
            </a:r>
            <a:r>
              <a:rPr lang="en-US" dirty="0"/>
              <a:t>on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Traversal</a:t>
            </a:r>
            <a:r>
              <a:rPr lang="en-US" dirty="0" smtClean="0"/>
              <a:t> → Visiting each element one by one.</a:t>
            </a:r>
          </a:p>
          <a:p>
            <a:r>
              <a:rPr lang="en-US" b="1" dirty="0" smtClean="0"/>
              <a:t>Insertion</a:t>
            </a:r>
            <a:r>
              <a:rPr lang="en-US" dirty="0" smtClean="0"/>
              <a:t> → Adding a new element at a specific position.</a:t>
            </a:r>
          </a:p>
          <a:p>
            <a:r>
              <a:rPr lang="en-US" b="1" dirty="0" smtClean="0"/>
              <a:t>Deletion</a:t>
            </a:r>
            <a:r>
              <a:rPr lang="en-US" dirty="0" smtClean="0"/>
              <a:t> → Removing an element from a specific position.</a:t>
            </a:r>
          </a:p>
          <a:p>
            <a:r>
              <a:rPr lang="en-US" b="1" dirty="0" smtClean="0"/>
              <a:t>Searching</a:t>
            </a:r>
            <a:r>
              <a:rPr lang="en-US" dirty="0" smtClean="0"/>
              <a:t> → Finding the position of an element.</a:t>
            </a:r>
          </a:p>
          <a:p>
            <a:r>
              <a:rPr lang="en-US" b="1" dirty="0" err="1" smtClean="0"/>
              <a:t>Updation</a:t>
            </a:r>
            <a:r>
              <a:rPr lang="en-US" dirty="0" smtClean="0"/>
              <a:t> → Changing the value of an element.</a:t>
            </a:r>
          </a:p>
          <a:p>
            <a:r>
              <a:rPr lang="en-US" b="1" dirty="0" smtClean="0"/>
              <a:t>Sorting</a:t>
            </a:r>
            <a:r>
              <a:rPr lang="en-US" dirty="0" smtClean="0"/>
              <a:t> → Arranging elements in order (ascending/descending).</a:t>
            </a:r>
          </a:p>
          <a:p>
            <a:r>
              <a:rPr lang="en-US" b="1" dirty="0" smtClean="0"/>
              <a:t>Reversing</a:t>
            </a:r>
            <a:r>
              <a:rPr lang="en-US" dirty="0" smtClean="0"/>
              <a:t> → Changing the order of elements to opposite.</a:t>
            </a:r>
          </a:p>
          <a:p>
            <a:r>
              <a:rPr lang="en-US" b="1" dirty="0" smtClean="0"/>
              <a:t>Mathematical operations</a:t>
            </a:r>
            <a:r>
              <a:rPr lang="en-US" dirty="0" smtClean="0"/>
              <a:t> → Like sum, average, min, max,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5.Assigning </a:t>
            </a:r>
            <a:r>
              <a:rPr lang="en-US" dirty="0"/>
              <a:t>Array to Another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Java, </a:t>
            </a:r>
            <a:r>
              <a:rPr lang="en-US" b="1" dirty="0" smtClean="0"/>
              <a:t>assigning one array to another</a:t>
            </a:r>
            <a:r>
              <a:rPr lang="en-US" dirty="0" smtClean="0"/>
              <a:t> doesn’t create a new copy of the array’s elements — it simply makes both variables refer to the </a:t>
            </a:r>
            <a:r>
              <a:rPr lang="en-US" b="1" dirty="0" smtClean="0"/>
              <a:t>same array object</a:t>
            </a:r>
            <a:r>
              <a:rPr lang="en-US" dirty="0" smtClean="0"/>
              <a:t> in memory.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AssignArrayExample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arr1 = {10, 20, 30};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arr2 = arr1; // Both refer to the same array</a:t>
            </a:r>
          </a:p>
          <a:p>
            <a:endParaRPr lang="en-US" dirty="0" smtClean="0"/>
          </a:p>
          <a:p>
            <a:r>
              <a:rPr lang="en-US" dirty="0" smtClean="0"/>
              <a:t>        arr2[1] = 99; // Change through arr2</a:t>
            </a:r>
          </a:p>
          <a:p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("arr1[1]: " + arr1[1]); // 99 — change reflects in arr1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("arr2[1]: " + arr2[1]); // 99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arr2 = arr1; means </a:t>
            </a:r>
            <a:r>
              <a:rPr lang="en-US" b="1" dirty="0" smtClean="0"/>
              <a:t>no new array is created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Both variables point to </a:t>
            </a:r>
            <a:r>
              <a:rPr lang="en-US" b="1" dirty="0" smtClean="0"/>
              <a:t>the same memory location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Modifying one array’s element changes it for the other.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6.</a:t>
            </a:r>
            <a:r>
              <a:rPr lang="en-US" dirty="0"/>
              <a:t> Dynamic Change of Array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Java, </a:t>
            </a:r>
            <a:r>
              <a:rPr lang="en-US" b="1" dirty="0" smtClean="0"/>
              <a:t>arrays have a fixed size once created</a:t>
            </a:r>
            <a:r>
              <a:rPr lang="en-US" dirty="0" smtClean="0"/>
              <a:t> — you </a:t>
            </a:r>
            <a:r>
              <a:rPr lang="en-US" b="1" dirty="0" smtClean="0"/>
              <a:t>cannot</a:t>
            </a:r>
            <a:r>
              <a:rPr lang="en-US" dirty="0" smtClean="0"/>
              <a:t> directly increase or decrease their length.</a:t>
            </a:r>
          </a:p>
          <a:p>
            <a:r>
              <a:rPr lang="en-US" dirty="0" smtClean="0"/>
              <a:t>If you want to </a:t>
            </a:r>
            <a:r>
              <a:rPr lang="en-US" b="1" dirty="0" smtClean="0"/>
              <a:t>dynamically change</a:t>
            </a:r>
            <a:r>
              <a:rPr lang="en-US" dirty="0" smtClean="0"/>
              <a:t> an array’s size, you have to:</a:t>
            </a:r>
          </a:p>
          <a:p>
            <a:r>
              <a:rPr lang="en-US" dirty="0" smtClean="0"/>
              <a:t>Create a </a:t>
            </a:r>
            <a:r>
              <a:rPr lang="en-US" b="1" dirty="0" smtClean="0"/>
              <a:t>new array</a:t>
            </a:r>
            <a:r>
              <a:rPr lang="en-US" dirty="0" smtClean="0"/>
              <a:t> of the desired size.</a:t>
            </a:r>
          </a:p>
          <a:p>
            <a:r>
              <a:rPr lang="en-US" b="1" dirty="0" smtClean="0"/>
              <a:t>Copy</a:t>
            </a:r>
            <a:r>
              <a:rPr lang="en-US" dirty="0" smtClean="0"/>
              <a:t> the old array’s elements into the new array.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Manually increasing array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DynamicArraySize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</a:t>
            </a:r>
            <a:r>
              <a:rPr lang="en-US" dirty="0" err="1" smtClean="0"/>
              <a:t>arr</a:t>
            </a:r>
            <a:r>
              <a:rPr lang="en-US" dirty="0" smtClean="0"/>
              <a:t> = {1, 2, 3};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("Original array:");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num : </a:t>
            </a:r>
            <a:r>
              <a:rPr lang="en-US" dirty="0" err="1" smtClean="0"/>
              <a:t>arr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</a:t>
            </a:r>
            <a:r>
              <a:rPr lang="en-US" dirty="0" smtClean="0"/>
              <a:t>(num + " ");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// Increase size from 3 to 5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newSize</a:t>
            </a:r>
            <a:r>
              <a:rPr lang="en-US" dirty="0" smtClean="0"/>
              <a:t> = 5;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 </a:t>
            </a:r>
            <a:r>
              <a:rPr lang="en-US" dirty="0" err="1" smtClean="0"/>
              <a:t>newArr</a:t>
            </a:r>
            <a:r>
              <a:rPr lang="en-US" dirty="0" smtClean="0"/>
              <a:t> = new </a:t>
            </a:r>
            <a:r>
              <a:rPr lang="en-US" dirty="0" err="1" smtClean="0"/>
              <a:t>int</a:t>
            </a:r>
            <a:r>
              <a:rPr lang="en-US" dirty="0" smtClean="0"/>
              <a:t>[</a:t>
            </a:r>
            <a:r>
              <a:rPr lang="en-US" dirty="0" err="1" smtClean="0"/>
              <a:t>newSize</a:t>
            </a:r>
            <a:r>
              <a:rPr lang="en-US" dirty="0" smtClean="0"/>
              <a:t>];</a:t>
            </a:r>
          </a:p>
          <a:p>
            <a:endParaRPr lang="en-US" dirty="0" smtClean="0"/>
          </a:p>
          <a:p>
            <a:r>
              <a:rPr lang="en-US" dirty="0" smtClean="0"/>
              <a:t>       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// Copy old elements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arr.length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newArr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// Add new elements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newArr</a:t>
            </a:r>
            <a:r>
              <a:rPr lang="en-US" dirty="0" smtClean="0"/>
              <a:t>[3] = 4;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newArr</a:t>
            </a:r>
            <a:r>
              <a:rPr lang="en-US" dirty="0" smtClean="0"/>
              <a:t>[4] = 5;</a:t>
            </a:r>
          </a:p>
          <a:p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("\</a:t>
            </a:r>
            <a:r>
              <a:rPr lang="en-US" dirty="0" err="1" smtClean="0"/>
              <a:t>nNew</a:t>
            </a:r>
            <a:r>
              <a:rPr lang="en-US" dirty="0" smtClean="0"/>
              <a:t> array:");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num : </a:t>
            </a:r>
            <a:r>
              <a:rPr lang="en-US" dirty="0" err="1" smtClean="0"/>
              <a:t>newArr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</a:t>
            </a:r>
            <a:r>
              <a:rPr lang="en-US" dirty="0" smtClean="0"/>
              <a:t>(num + " ");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7.Sorting </a:t>
            </a:r>
            <a:r>
              <a:rPr lang="en-US" dirty="0"/>
              <a:t>of</a:t>
            </a:r>
            <a:br>
              <a:rPr lang="en-US" dirty="0"/>
            </a:br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Sorting of Arrays in </a:t>
            </a:r>
            <a:r>
              <a:rPr lang="en-US" b="1" dirty="0" smtClean="0"/>
              <a:t>Java</a:t>
            </a:r>
            <a:r>
              <a:rPr lang="en-US" dirty="0" smtClean="0"/>
              <a:t> means arranging the elements of an array in a specific order, usually </a:t>
            </a:r>
            <a:r>
              <a:rPr lang="en-US" b="1" dirty="0" smtClean="0"/>
              <a:t>ascending (smallest to largest)</a:t>
            </a:r>
            <a:r>
              <a:rPr lang="en-US" dirty="0" smtClean="0"/>
              <a:t> or </a:t>
            </a:r>
            <a:r>
              <a:rPr lang="en-US" b="1" dirty="0" smtClean="0"/>
              <a:t>descending (largest to smallest)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Types of Sorting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Ascending Order</a:t>
            </a:r>
            <a:r>
              <a:rPr lang="en-US" dirty="0" smtClean="0"/>
              <a:t> → Smallest to Largest</a:t>
            </a:r>
            <a:br>
              <a:rPr lang="en-US" dirty="0" smtClean="0"/>
            </a:br>
            <a:r>
              <a:rPr lang="en-US" dirty="0" smtClean="0"/>
              <a:t>Example: [5, 2, 9, 1] → [1, 2, 5, 9]</a:t>
            </a:r>
          </a:p>
          <a:p>
            <a:r>
              <a:rPr lang="en-US" b="1" dirty="0" smtClean="0"/>
              <a:t>Descending Order</a:t>
            </a:r>
            <a:r>
              <a:rPr lang="en-US" dirty="0" smtClean="0"/>
              <a:t> → Largest to Smallest</a:t>
            </a:r>
            <a:br>
              <a:rPr lang="en-US" dirty="0" smtClean="0"/>
            </a:br>
            <a:r>
              <a:rPr lang="en-US" dirty="0" smtClean="0"/>
              <a:t>Example: [5, 2, 9, 1] → [9, 5, 2, 1]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Using </a:t>
            </a:r>
            <a:r>
              <a:rPr lang="en-US" b="1" dirty="0" err="1" smtClean="0"/>
              <a:t>Arrays.sort</a:t>
            </a:r>
            <a:r>
              <a:rPr lang="en-US" b="1" dirty="0" smtClean="0"/>
              <a:t>()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71546"/>
            <a:ext cx="7715304" cy="4439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Manual Sorting (Algorithms)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also implement sorting yourself:</a:t>
            </a:r>
          </a:p>
          <a:p>
            <a:r>
              <a:rPr lang="en-US" b="1" dirty="0" smtClean="0"/>
              <a:t>Bubble Sort</a:t>
            </a:r>
            <a:endParaRPr lang="en-US" dirty="0" smtClean="0"/>
          </a:p>
          <a:p>
            <a:r>
              <a:rPr lang="en-US" b="1" dirty="0" smtClean="0"/>
              <a:t>Selection Sort</a:t>
            </a:r>
            <a:endParaRPr lang="en-US" dirty="0" smtClean="0"/>
          </a:p>
          <a:p>
            <a:r>
              <a:rPr lang="en-US" b="1" dirty="0" smtClean="0"/>
              <a:t>Insertion Sort</a:t>
            </a:r>
            <a:endParaRPr lang="en-US" dirty="0" smtClean="0"/>
          </a:p>
          <a:p>
            <a:r>
              <a:rPr lang="en-US" b="1" dirty="0" smtClean="0"/>
              <a:t>Merge Sort</a:t>
            </a:r>
            <a:endParaRPr lang="en-US" dirty="0" smtClean="0"/>
          </a:p>
          <a:p>
            <a:r>
              <a:rPr lang="en-US" b="1" dirty="0" smtClean="0"/>
              <a:t>Quick Sort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8.Search </a:t>
            </a:r>
            <a:r>
              <a:rPr lang="en-US" dirty="0"/>
              <a:t>for Values in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Searching for values in arrays means checking whether a given element exists in the array and, if so, finding its position (index).</a:t>
            </a:r>
            <a:br>
              <a:rPr lang="en-US" dirty="0" smtClean="0"/>
            </a:br>
            <a:r>
              <a:rPr lang="en-US" dirty="0" smtClean="0"/>
              <a:t>There are mainly </a:t>
            </a:r>
            <a:r>
              <a:rPr lang="en-US" b="1" dirty="0" smtClean="0"/>
              <a:t>two types of searching techniques</a:t>
            </a:r>
            <a:r>
              <a:rPr lang="en-US" dirty="0" smtClean="0"/>
              <a:t> used in arrays: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b="1" dirty="0" smtClean="0"/>
              <a:t>Linear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Works on </a:t>
            </a:r>
            <a:r>
              <a:rPr lang="en-US" b="1" dirty="0" smtClean="0"/>
              <a:t>unsorted or sorted arrays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Checks each element one by one until the value is found.</a:t>
            </a:r>
          </a:p>
          <a:p>
            <a:r>
              <a:rPr lang="en-US" dirty="0" smtClean="0"/>
              <a:t>Time Complexity → </a:t>
            </a:r>
            <a:r>
              <a:rPr lang="en-US" b="1" dirty="0" smtClean="0"/>
              <a:t>O(n)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2. Binary Search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Works </a:t>
            </a:r>
            <a:r>
              <a:rPr lang="en-US" b="1" dirty="0" smtClean="0"/>
              <a:t>only on sorted arrays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Repeatedly divides the array into halves.</a:t>
            </a:r>
          </a:p>
          <a:p>
            <a:r>
              <a:rPr lang="en-US" dirty="0" smtClean="0"/>
              <a:t>Time Complexity → </a:t>
            </a:r>
            <a:r>
              <a:rPr lang="en-US" b="1" dirty="0" smtClean="0"/>
              <a:t>O(log n)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9.Class </a:t>
            </a:r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Java, the </a:t>
            </a:r>
            <a:r>
              <a:rPr lang="en-US" b="1" dirty="0" smtClean="0"/>
              <a:t>Arrays</a:t>
            </a:r>
            <a:r>
              <a:rPr lang="en-US" dirty="0" smtClean="0"/>
              <a:t> class is a </a:t>
            </a:r>
            <a:r>
              <a:rPr lang="en-US" b="1" dirty="0" smtClean="0"/>
              <a:t>utility class</a:t>
            </a:r>
            <a:r>
              <a:rPr lang="en-US" dirty="0" smtClean="0"/>
              <a:t> present in the </a:t>
            </a:r>
            <a:r>
              <a:rPr lang="en-US" b="1" dirty="0" err="1" smtClean="0"/>
              <a:t>java.util</a:t>
            </a:r>
            <a:r>
              <a:rPr lang="en-US" dirty="0" smtClean="0"/>
              <a:t> package.</a:t>
            </a:r>
            <a:br>
              <a:rPr lang="en-US" dirty="0" smtClean="0"/>
            </a:br>
            <a:r>
              <a:rPr lang="en-US" dirty="0" smtClean="0"/>
              <a:t>It provides </a:t>
            </a:r>
            <a:r>
              <a:rPr lang="en-US" b="1" dirty="0" smtClean="0"/>
              <a:t>static methods</a:t>
            </a:r>
            <a:r>
              <a:rPr lang="en-US" dirty="0" smtClean="0"/>
              <a:t> to perform operations on arrays such as </a:t>
            </a:r>
            <a:r>
              <a:rPr lang="en-US" b="1" dirty="0" smtClean="0"/>
              <a:t>sorting, searching, comparing, filling, and converting arrays to strings or lists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Features of Arrays class: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Belongs to </a:t>
            </a:r>
            <a:r>
              <a:rPr lang="en-US" b="1" dirty="0" err="1" smtClean="0"/>
              <a:t>java.util</a:t>
            </a:r>
            <a:r>
              <a:rPr lang="en-US" dirty="0" smtClean="0"/>
              <a:t> package.</a:t>
            </a:r>
          </a:p>
          <a:p>
            <a:r>
              <a:rPr lang="en-US" dirty="0" smtClean="0"/>
              <a:t>Contains </a:t>
            </a:r>
            <a:r>
              <a:rPr lang="en-US" b="1" dirty="0" smtClean="0"/>
              <a:t>only static methods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Supports operations like </a:t>
            </a:r>
            <a:r>
              <a:rPr lang="en-US" b="1" dirty="0" smtClean="0"/>
              <a:t>sort, search, fill, copy, compare, equals, and </a:t>
            </a:r>
            <a:r>
              <a:rPr lang="en-US" b="1" dirty="0" err="1" smtClean="0"/>
              <a:t>toString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Commonly Used Methods in Arrays Class: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71047" y="2481863"/>
            <a:ext cx="7201906" cy="2762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10.</a:t>
            </a:r>
            <a:r>
              <a:rPr lang="en-US" dirty="0"/>
              <a:t> Two-dimensiona1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two-dimensional (2D) array</a:t>
            </a:r>
            <a:r>
              <a:rPr lang="en-US" dirty="0" smtClean="0"/>
              <a:t> is an array of arrays.</a:t>
            </a:r>
            <a:br>
              <a:rPr lang="en-US" dirty="0" smtClean="0"/>
            </a:br>
            <a:r>
              <a:rPr lang="en-US" dirty="0" smtClean="0"/>
              <a:t>It can be visualized as a table with rows and columns, where data is stored in </a:t>
            </a:r>
            <a:r>
              <a:rPr lang="en-US" b="1" dirty="0" smtClean="0"/>
              <a:t>row-column</a:t>
            </a:r>
            <a:r>
              <a:rPr lang="en-US" dirty="0" smtClean="0"/>
              <a:t> form.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2D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dataType</a:t>
            </a:r>
            <a:r>
              <a:rPr lang="en-US" sz="2400" dirty="0" smtClean="0"/>
              <a:t>[][] </a:t>
            </a:r>
            <a:r>
              <a:rPr lang="en-US" sz="2400" dirty="0" err="1" smtClean="0"/>
              <a:t>arrayName</a:t>
            </a:r>
            <a:r>
              <a:rPr lang="en-US" sz="2400" dirty="0" smtClean="0"/>
              <a:t>;</a:t>
            </a:r>
          </a:p>
          <a:p>
            <a:endParaRPr lang="en-IN" sz="2400" dirty="0"/>
          </a:p>
          <a:p>
            <a:r>
              <a:rPr lang="en-US" sz="2400" dirty="0" smtClean="0"/>
              <a:t>Creation of 2D Array</a:t>
            </a:r>
          </a:p>
          <a:p>
            <a:r>
              <a:rPr lang="en-US" sz="2400" dirty="0" err="1" smtClean="0"/>
              <a:t>int</a:t>
            </a:r>
            <a:r>
              <a:rPr lang="en-US" sz="2400" dirty="0" smtClean="0"/>
              <a:t>[][] </a:t>
            </a:r>
            <a:r>
              <a:rPr lang="en-US" sz="2400" dirty="0" err="1" smtClean="0"/>
              <a:t>arr</a:t>
            </a:r>
            <a:r>
              <a:rPr lang="en-US" sz="2400" dirty="0" smtClean="0"/>
              <a:t> = new </a:t>
            </a:r>
            <a:r>
              <a:rPr lang="en-US" sz="2400" dirty="0" err="1" smtClean="0"/>
              <a:t>int</a:t>
            </a:r>
            <a:r>
              <a:rPr lang="en-US" sz="2400" dirty="0" smtClean="0"/>
              <a:t>[3][4]; // 3 rows and 4 columns</a:t>
            </a:r>
          </a:p>
          <a:p>
            <a:r>
              <a:rPr lang="en-US" sz="2400" dirty="0" smtClean="0"/>
              <a:t>Here:</a:t>
            </a:r>
          </a:p>
          <a:p>
            <a:r>
              <a:rPr lang="en-US" sz="2400" dirty="0" err="1" smtClean="0"/>
              <a:t>arr</a:t>
            </a:r>
            <a:r>
              <a:rPr lang="en-US" sz="2400" dirty="0" smtClean="0"/>
              <a:t> is a 2D array of integers.</a:t>
            </a:r>
          </a:p>
          <a:p>
            <a:r>
              <a:rPr lang="en-US" sz="2400" dirty="0" smtClean="0"/>
              <a:t>It has </a:t>
            </a:r>
            <a:r>
              <a:rPr lang="en-US" sz="2400" b="1" dirty="0" smtClean="0"/>
              <a:t>3 rows</a:t>
            </a:r>
            <a:r>
              <a:rPr lang="en-US" sz="2400" dirty="0" smtClean="0"/>
              <a:t> and </a:t>
            </a:r>
            <a:r>
              <a:rPr lang="en-US" sz="2400" b="1" dirty="0" smtClean="0"/>
              <a:t>4 columns</a:t>
            </a:r>
            <a:r>
              <a:rPr lang="en-US" sz="24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1.Initialization of 2D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[][] </a:t>
            </a:r>
            <a:r>
              <a:rPr lang="en-US" dirty="0" err="1" smtClean="0"/>
              <a:t>arr</a:t>
            </a:r>
            <a:r>
              <a:rPr lang="en-US" dirty="0" smtClean="0"/>
              <a:t> = {</a:t>
            </a:r>
          </a:p>
          <a:p>
            <a:r>
              <a:rPr lang="en-US" dirty="0" smtClean="0"/>
              <a:t>    {1, 2, 3},</a:t>
            </a:r>
          </a:p>
          <a:p>
            <a:r>
              <a:rPr lang="en-US" dirty="0" smtClean="0"/>
              <a:t>    {4, 5, 6},</a:t>
            </a:r>
          </a:p>
          <a:p>
            <a:r>
              <a:rPr lang="en-US" dirty="0" smtClean="0"/>
              <a:t>    {7, 8, 9}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</a:t>
            </a:r>
            <a:r>
              <a:rPr lang="en-US" dirty="0" smtClean="0"/>
              <a:t> Dynamic Initialization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[][] </a:t>
            </a:r>
            <a:r>
              <a:rPr lang="en-US" dirty="0" err="1" smtClean="0"/>
              <a:t>arr</a:t>
            </a:r>
            <a:r>
              <a:rPr lang="en-US" dirty="0" smtClean="0"/>
              <a:t> = new </a:t>
            </a:r>
            <a:r>
              <a:rPr lang="en-US" dirty="0" err="1" smtClean="0"/>
              <a:t>int</a:t>
            </a:r>
            <a:r>
              <a:rPr lang="en-US" dirty="0" smtClean="0"/>
              <a:t>[2][3];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[0][0] = 10;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[0][1] = 20;</a:t>
            </a:r>
          </a:p>
          <a:p>
            <a:r>
              <a:rPr lang="en-IN" dirty="0" err="1" smtClean="0"/>
              <a:t>arr</a:t>
            </a:r>
            <a:r>
              <a:rPr lang="en-IN" dirty="0" smtClean="0"/>
              <a:t>[0][2]=50;</a:t>
            </a:r>
            <a:endParaRPr lang="en-US" dirty="0" smtClean="0"/>
          </a:p>
          <a:p>
            <a:r>
              <a:rPr lang="en-US" dirty="0" err="1" smtClean="0"/>
              <a:t>arr</a:t>
            </a:r>
            <a:r>
              <a:rPr lang="en-US" dirty="0" smtClean="0"/>
              <a:t>[1][0] = 30;</a:t>
            </a:r>
          </a:p>
          <a:p>
            <a:r>
              <a:rPr lang="en-IN" dirty="0" err="1" smtClean="0"/>
              <a:t>arr</a:t>
            </a:r>
            <a:r>
              <a:rPr lang="en-IN" dirty="0" smtClean="0"/>
              <a:t>[1][1] = 40;</a:t>
            </a:r>
          </a:p>
          <a:p>
            <a:r>
              <a:rPr lang="en-IN" dirty="0" err="1" smtClean="0"/>
              <a:t>arr</a:t>
            </a:r>
            <a:r>
              <a:rPr lang="en-IN" dirty="0" smtClean="0"/>
              <a:t>[1][2]=60;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Elements in 2D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[1][2]); 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Traversing a 2D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arr.length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          // rows</a:t>
            </a:r>
          </a:p>
          <a:p>
            <a:r>
              <a:rPr lang="en-US" dirty="0" smtClean="0"/>
              <a:t>for (</a:t>
            </a:r>
            <a:r>
              <a:rPr lang="en-US" dirty="0" err="1" smtClean="0"/>
              <a:t>int</a:t>
            </a:r>
            <a:r>
              <a:rPr lang="en-US" dirty="0" smtClean="0"/>
              <a:t> j = 0; j &lt;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].length; j++) {   // columns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 + " ");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System.out.println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Program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769615"/>
            <a:ext cx="5348617" cy="412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11.</a:t>
            </a:r>
            <a:r>
              <a:rPr lang="en-US" dirty="0"/>
              <a:t> Arrays of Varying Lengths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Java, </a:t>
            </a:r>
            <a:r>
              <a:rPr lang="en-US" b="1" dirty="0" smtClean="0"/>
              <a:t>arrays of varying lengths</a:t>
            </a:r>
            <a:r>
              <a:rPr lang="en-US" dirty="0" smtClean="0"/>
              <a:t> usually refer to </a:t>
            </a:r>
            <a:r>
              <a:rPr lang="en-US" b="1" dirty="0" smtClean="0"/>
              <a:t>jagged arrays</a:t>
            </a:r>
            <a:r>
              <a:rPr lang="en-US" dirty="0" smtClean="0"/>
              <a:t> (also called </a:t>
            </a:r>
            <a:r>
              <a:rPr lang="en-US" b="1" dirty="0" smtClean="0"/>
              <a:t>ragged arrays</a:t>
            </a:r>
            <a:r>
              <a:rPr lang="en-US" dirty="0" smtClean="0"/>
              <a:t>).</a:t>
            </a:r>
            <a:br>
              <a:rPr lang="en-US" dirty="0" smtClean="0"/>
            </a:br>
            <a:r>
              <a:rPr lang="en-US" dirty="0" smtClean="0"/>
              <a:t>Unlike a regular 2D array (which has rows and columns of equal length), a jagged array allows each row to have a </a:t>
            </a:r>
            <a:r>
              <a:rPr lang="en-US" b="1" dirty="0" smtClean="0"/>
              <a:t>different number of elements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Jagged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[][] </a:t>
            </a:r>
            <a:r>
              <a:rPr lang="en-US" dirty="0" err="1" smtClean="0"/>
              <a:t>arr</a:t>
            </a:r>
            <a:r>
              <a:rPr lang="en-US" dirty="0" smtClean="0"/>
              <a:t> = new </a:t>
            </a:r>
            <a:r>
              <a:rPr lang="en-US" dirty="0" err="1" smtClean="0"/>
              <a:t>int</a:t>
            </a:r>
            <a:r>
              <a:rPr lang="en-US" dirty="0" smtClean="0"/>
              <a:t>[3][];</a:t>
            </a:r>
          </a:p>
          <a:p>
            <a:endParaRPr lang="en-IN" dirty="0"/>
          </a:p>
          <a:p>
            <a:r>
              <a:rPr lang="en-US" dirty="0" smtClean="0"/>
              <a:t>Here, </a:t>
            </a:r>
            <a:r>
              <a:rPr lang="en-US" dirty="0" err="1" smtClean="0"/>
              <a:t>arr</a:t>
            </a:r>
            <a:r>
              <a:rPr lang="en-US" dirty="0" smtClean="0"/>
              <a:t> is a </a:t>
            </a:r>
            <a:r>
              <a:rPr lang="en-US" b="1" dirty="0" smtClean="0"/>
              <a:t>2D array with 3 rows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columns are not defined yet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Initialization of Jagged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initialize rows with different lengths:</a:t>
            </a:r>
          </a:p>
          <a:p>
            <a:endParaRPr lang="en-IN" dirty="0"/>
          </a:p>
          <a:p>
            <a:r>
              <a:rPr lang="en-US" dirty="0" err="1" smtClean="0"/>
              <a:t>arr</a:t>
            </a:r>
            <a:r>
              <a:rPr lang="en-US" dirty="0" smtClean="0"/>
              <a:t>[0] = new </a:t>
            </a:r>
            <a:r>
              <a:rPr lang="en-US" dirty="0" err="1" smtClean="0"/>
              <a:t>int</a:t>
            </a:r>
            <a:r>
              <a:rPr lang="en-US" dirty="0" smtClean="0"/>
              <a:t>[2];  // 1st row has 2 elements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[1] = new </a:t>
            </a:r>
            <a:r>
              <a:rPr lang="en-US" dirty="0" err="1" smtClean="0"/>
              <a:t>int</a:t>
            </a:r>
            <a:r>
              <a:rPr lang="en-US" dirty="0" smtClean="0"/>
              <a:t>[4];  // 2nd row has 4 elements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[2] = new </a:t>
            </a:r>
            <a:r>
              <a:rPr lang="en-US" dirty="0" err="1" smtClean="0"/>
              <a:t>int</a:t>
            </a:r>
            <a:r>
              <a:rPr lang="en-US" dirty="0" smtClean="0"/>
              <a:t>[3];  // 3rd row has 3 elements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Arrays of Varying Lengths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JaggedArrayExample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// Create a jagged array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[][] </a:t>
            </a:r>
            <a:r>
              <a:rPr lang="en-US" dirty="0" err="1" smtClean="0"/>
              <a:t>arr</a:t>
            </a:r>
            <a:r>
              <a:rPr lang="en-US" dirty="0" smtClean="0"/>
              <a:t> = new </a:t>
            </a:r>
            <a:r>
              <a:rPr lang="en-US" dirty="0" err="1" smtClean="0"/>
              <a:t>int</a:t>
            </a:r>
            <a:r>
              <a:rPr lang="en-US" dirty="0" smtClean="0"/>
              <a:t>[3][];</a:t>
            </a:r>
          </a:p>
          <a:p>
            <a:endParaRPr lang="en-US" dirty="0" smtClean="0"/>
          </a:p>
          <a:p>
            <a:r>
              <a:rPr lang="en-US" dirty="0" smtClean="0"/>
              <a:t>        // Initializing with varying lengths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arr</a:t>
            </a:r>
            <a:r>
              <a:rPr lang="en-US" dirty="0" smtClean="0"/>
              <a:t>[0] = new </a:t>
            </a:r>
            <a:r>
              <a:rPr lang="en-US" dirty="0" err="1" smtClean="0"/>
              <a:t>int</a:t>
            </a:r>
            <a:r>
              <a:rPr lang="en-US" dirty="0" smtClean="0"/>
              <a:t>[2]; 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arr</a:t>
            </a:r>
            <a:r>
              <a:rPr lang="en-US" dirty="0" smtClean="0"/>
              <a:t>[1] = new </a:t>
            </a:r>
            <a:r>
              <a:rPr lang="en-US" dirty="0" err="1" smtClean="0"/>
              <a:t>int</a:t>
            </a:r>
            <a:r>
              <a:rPr lang="en-US" dirty="0" smtClean="0"/>
              <a:t>[4]; 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arr</a:t>
            </a:r>
            <a:r>
              <a:rPr lang="en-US" dirty="0" smtClean="0"/>
              <a:t>[2] = new </a:t>
            </a:r>
            <a:r>
              <a:rPr lang="en-US" dirty="0" err="1" smtClean="0"/>
              <a:t>int</a:t>
            </a:r>
            <a:r>
              <a:rPr lang="en-US" dirty="0" smtClean="0"/>
              <a:t>[3];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 // Assigning values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value = 1;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arr.length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for (</a:t>
            </a:r>
            <a:r>
              <a:rPr lang="en-US" dirty="0" err="1" smtClean="0"/>
              <a:t>int</a:t>
            </a:r>
            <a:r>
              <a:rPr lang="en-US" dirty="0" smtClean="0"/>
              <a:t> j = 0; j &lt;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].length; j++) {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 = value++;</a:t>
            </a:r>
          </a:p>
          <a:p>
            <a:r>
              <a:rPr lang="en-US" dirty="0" smtClean="0"/>
              <a:t>            }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// Printing jagged array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arr.length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for (</a:t>
            </a:r>
            <a:r>
              <a:rPr lang="en-US" dirty="0" err="1" smtClean="0"/>
              <a:t>int</a:t>
            </a:r>
            <a:r>
              <a:rPr lang="en-US" dirty="0" smtClean="0"/>
              <a:t> j = 0; j &lt;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].length; j++) {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System.out.print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 + " ");</a:t>
            </a:r>
          </a:p>
          <a:p>
            <a:r>
              <a:rPr lang="en-US" dirty="0" smtClean="0"/>
              <a:t>            }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12.</a:t>
            </a:r>
            <a:r>
              <a:rPr lang="en-US" dirty="0"/>
              <a:t> Three-dimensional</a:t>
            </a:r>
            <a:br>
              <a:rPr lang="en-US" dirty="0"/>
            </a:br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three-dimensional (3D) array</a:t>
            </a:r>
            <a:r>
              <a:rPr lang="en-US" dirty="0" smtClean="0"/>
              <a:t> in Java is simply an </a:t>
            </a:r>
            <a:r>
              <a:rPr lang="en-US" b="1" dirty="0" smtClean="0"/>
              <a:t>array of two-dimensional arrays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It can be visualized like a </a:t>
            </a:r>
            <a:r>
              <a:rPr lang="en-US" b="1" dirty="0" smtClean="0"/>
              <a:t>cube (or a stack of 2D matrices)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3D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dataType</a:t>
            </a:r>
            <a:r>
              <a:rPr lang="en-US" dirty="0" smtClean="0"/>
              <a:t>[][][] </a:t>
            </a:r>
            <a:r>
              <a:rPr lang="en-US" dirty="0" err="1" smtClean="0"/>
              <a:t>arrayName</a:t>
            </a:r>
            <a:r>
              <a:rPr lang="en-US" dirty="0" smtClean="0"/>
              <a:t> = new </a:t>
            </a:r>
            <a:r>
              <a:rPr lang="en-US" dirty="0" err="1" smtClean="0"/>
              <a:t>dataType</a:t>
            </a:r>
            <a:r>
              <a:rPr lang="en-US" dirty="0" smtClean="0"/>
              <a:t>[size1][size2][size3];</a:t>
            </a:r>
          </a:p>
          <a:p>
            <a:endParaRPr lang="en-IN" dirty="0"/>
          </a:p>
          <a:p>
            <a:r>
              <a:rPr lang="en-US" b="1" dirty="0" smtClean="0"/>
              <a:t>size1</a:t>
            </a:r>
            <a:r>
              <a:rPr lang="en-US" dirty="0" smtClean="0"/>
              <a:t> → Number of 2D arrays (depth).</a:t>
            </a:r>
          </a:p>
          <a:p>
            <a:r>
              <a:rPr lang="en-US" b="1" dirty="0" smtClean="0"/>
              <a:t>size2</a:t>
            </a:r>
            <a:r>
              <a:rPr lang="en-US" dirty="0" smtClean="0"/>
              <a:t> → Number of rows in each 2D array.</a:t>
            </a:r>
          </a:p>
          <a:p>
            <a:r>
              <a:rPr lang="en-US" b="1" dirty="0" smtClean="0"/>
              <a:t>size3</a:t>
            </a:r>
            <a:r>
              <a:rPr lang="en-US" dirty="0" smtClean="0"/>
              <a:t> → Number of columns in each row.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Declaring and Initializing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ThreeDArrayExample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// 3D array with 2 blocks, 3 rows, 4 columns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[][][] </a:t>
            </a:r>
            <a:r>
              <a:rPr lang="en-US" dirty="0" err="1" smtClean="0"/>
              <a:t>arr</a:t>
            </a:r>
            <a:r>
              <a:rPr lang="en-US" dirty="0" smtClean="0"/>
              <a:t> = new </a:t>
            </a:r>
            <a:r>
              <a:rPr lang="en-US" dirty="0" err="1" smtClean="0"/>
              <a:t>int</a:t>
            </a:r>
            <a:r>
              <a:rPr lang="en-US" dirty="0" smtClean="0"/>
              <a:t>[2][3][4];</a:t>
            </a:r>
          </a:p>
          <a:p>
            <a:endParaRPr lang="en-US" dirty="0" smtClean="0"/>
          </a:p>
          <a:p>
            <a:r>
              <a:rPr lang="en-US" dirty="0" smtClean="0"/>
              <a:t>        // Assigning values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count = 1;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2; </a:t>
            </a:r>
            <a:r>
              <a:rPr lang="en-US" dirty="0" err="1" smtClean="0"/>
              <a:t>i</a:t>
            </a:r>
            <a:r>
              <a:rPr lang="en-US" dirty="0" smtClean="0"/>
              <a:t>++) {          // block</a:t>
            </a:r>
          </a:p>
          <a:p>
            <a:r>
              <a:rPr lang="en-US" dirty="0" smtClean="0"/>
              <a:t>            for (</a:t>
            </a:r>
            <a:r>
              <a:rPr lang="en-US" dirty="0" err="1" smtClean="0"/>
              <a:t>int</a:t>
            </a:r>
            <a:r>
              <a:rPr lang="en-US" dirty="0" smtClean="0"/>
              <a:t> j = 0; j &lt; 3; j++) {      // row</a:t>
            </a:r>
          </a:p>
          <a:p>
            <a:r>
              <a:rPr lang="en-US" dirty="0" smtClean="0"/>
              <a:t>                for (</a:t>
            </a:r>
            <a:r>
              <a:rPr lang="en-US" dirty="0" err="1" smtClean="0"/>
              <a:t>int</a:t>
            </a:r>
            <a:r>
              <a:rPr lang="en-US" dirty="0" smtClean="0"/>
              <a:t> k = 0; k &lt; 4; k++) {  // column</a:t>
            </a:r>
          </a:p>
          <a:p>
            <a:r>
              <a:rPr lang="en-US" dirty="0" smtClean="0"/>
              <a:t>                   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][j][k] = count++;</a:t>
            </a:r>
          </a:p>
          <a:p>
            <a:r>
              <a:rPr lang="en-US" dirty="0" smtClean="0"/>
              <a:t>                }</a:t>
            </a:r>
          </a:p>
          <a:p>
            <a:r>
              <a:rPr lang="en-US" dirty="0" smtClean="0"/>
              <a:t>            }</a:t>
            </a:r>
          </a:p>
          <a:p>
            <a:r>
              <a:rPr lang="en-US" dirty="0" smtClean="0"/>
              <a:t>        }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 // Printing values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2;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("Block " + (</a:t>
            </a:r>
            <a:r>
              <a:rPr lang="en-US" dirty="0" err="1" smtClean="0"/>
              <a:t>i</a:t>
            </a:r>
            <a:r>
              <a:rPr lang="en-US" dirty="0" smtClean="0"/>
              <a:t> + 1) + ":");</a:t>
            </a:r>
          </a:p>
          <a:p>
            <a:r>
              <a:rPr lang="en-US" dirty="0" smtClean="0"/>
              <a:t>            for (</a:t>
            </a:r>
            <a:r>
              <a:rPr lang="en-US" dirty="0" err="1" smtClean="0"/>
              <a:t>int</a:t>
            </a:r>
            <a:r>
              <a:rPr lang="en-US" dirty="0" smtClean="0"/>
              <a:t> j = 0; j &lt; 3; j++) {</a:t>
            </a:r>
          </a:p>
          <a:p>
            <a:r>
              <a:rPr lang="en-US" dirty="0" smtClean="0"/>
              <a:t>                for (</a:t>
            </a:r>
            <a:r>
              <a:rPr lang="en-US" dirty="0" err="1" smtClean="0"/>
              <a:t>int</a:t>
            </a:r>
            <a:r>
              <a:rPr lang="en-US" dirty="0" smtClean="0"/>
              <a:t> k = 0; k &lt; 4; k++) {</a:t>
            </a:r>
          </a:p>
          <a:p>
            <a:r>
              <a:rPr lang="en-US" dirty="0" smtClean="0"/>
              <a:t>                    </a:t>
            </a:r>
            <a:r>
              <a:rPr lang="en-US" dirty="0" err="1" smtClean="0"/>
              <a:t>System.out.print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][j][k] + " ");</a:t>
            </a:r>
          </a:p>
          <a:p>
            <a:r>
              <a:rPr lang="en-US" dirty="0" smtClean="0"/>
              <a:t>                }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System.out.println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    }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13.Arrays as Vectors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 mathematics, a </a:t>
            </a:r>
            <a:r>
              <a:rPr lang="en-US" sz="2800" b="1" dirty="0" smtClean="0"/>
              <a:t>vector</a:t>
            </a:r>
            <a:r>
              <a:rPr lang="en-US" sz="2800" dirty="0" smtClean="0"/>
              <a:t> is an </a:t>
            </a:r>
            <a:r>
              <a:rPr lang="en-US" sz="2800" b="1" dirty="0" smtClean="0"/>
              <a:t>ordered collection of elements</a:t>
            </a:r>
            <a:r>
              <a:rPr lang="en-US" sz="2800" dirty="0" smtClean="0"/>
              <a:t> (like numbers) that can represent points, directions, or magnitudes.</a:t>
            </a:r>
          </a:p>
          <a:p>
            <a:r>
              <a:rPr lang="en-US" sz="2800" dirty="0" smtClean="0"/>
              <a:t>In programming, especially in </a:t>
            </a:r>
            <a:r>
              <a:rPr lang="en-US" sz="2800" b="1" dirty="0" smtClean="0"/>
              <a:t>Java</a:t>
            </a:r>
            <a:r>
              <a:rPr lang="en-US" sz="2800" dirty="0" smtClean="0"/>
              <a:t>, an </a:t>
            </a:r>
            <a:r>
              <a:rPr lang="en-US" sz="2800" b="1" dirty="0" smtClean="0"/>
              <a:t>array can be treated like a vector</a:t>
            </a:r>
            <a:r>
              <a:rPr lang="en-US" sz="2800" dirty="0" smtClean="0"/>
              <a:t>, because:</a:t>
            </a:r>
          </a:p>
          <a:p>
            <a:pPr lvl="1"/>
            <a:r>
              <a:rPr lang="en-US" sz="2400" dirty="0" smtClean="0"/>
              <a:t>It stores elements of the </a:t>
            </a:r>
            <a:r>
              <a:rPr lang="en-US" sz="2400" b="1" dirty="0" smtClean="0"/>
              <a:t>same type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The elements are stored in </a:t>
            </a:r>
            <a:r>
              <a:rPr lang="en-US" sz="2400" b="1" dirty="0" smtClean="0"/>
              <a:t>contiguous memory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Each element can be accessed using an </a:t>
            </a:r>
            <a:r>
              <a:rPr lang="en-US" sz="2400" b="1" dirty="0" smtClean="0"/>
              <a:t>index</a:t>
            </a:r>
            <a:r>
              <a:rPr lang="en-US" sz="24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Array as Vector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ArrayAsVector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// Declaring an array (like a vector of 5 integers)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vector[] = {10, 20, 30, 40, 50};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    // Accessing elements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("First element: " + vector[0]);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        // Performing vector-like operations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sum = 0;</a:t>
            </a:r>
          </a:p>
          <a:p>
            <a:r>
              <a:rPr lang="en-US" dirty="0" smtClean="0"/>
              <a:t>    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vector.length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sum += vector[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("Sum of vector elements: " + sum);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Here, the vector array behaves like a </a:t>
            </a:r>
            <a:r>
              <a:rPr lang="en-US" b="1" dirty="0" smtClean="0"/>
              <a:t>mathematical vector of size 5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You can perform operations such as </a:t>
            </a:r>
            <a:r>
              <a:rPr lang="en-US" b="1" dirty="0" smtClean="0"/>
              <a:t>addition, subtraction, dot product, scalar multiplication</a:t>
            </a:r>
            <a:r>
              <a:rPr lang="en-US" dirty="0" smtClean="0"/>
              <a:t> using arrays.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1.Inheritance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</a:p>
          <a:p>
            <a:r>
              <a:rPr lang="en-US" b="1" dirty="0" smtClean="0"/>
              <a:t>Inheritance</a:t>
            </a:r>
            <a:r>
              <a:rPr lang="en-US" dirty="0" smtClean="0"/>
              <a:t> in Java is a mechanism where one class acquires the fields (variables) and methods of another class.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Code reusability</a:t>
            </a:r>
            <a:r>
              <a:rPr lang="en-US" dirty="0" smtClean="0"/>
              <a:t> – Avoid writing the same code multiple times.</a:t>
            </a:r>
          </a:p>
          <a:p>
            <a:r>
              <a:rPr lang="en-US" b="1" dirty="0" smtClean="0"/>
              <a:t>Method Overriding</a:t>
            </a:r>
            <a:r>
              <a:rPr lang="en-US" dirty="0" smtClean="0"/>
              <a:t> – To achieve </a:t>
            </a:r>
            <a:r>
              <a:rPr lang="en-US" b="1" dirty="0" smtClean="0"/>
              <a:t>runtime polymorphism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Extensibility</a:t>
            </a:r>
            <a:r>
              <a:rPr lang="en-US" dirty="0" smtClean="0"/>
              <a:t> – Create new features on top of existing classes.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process of inheritance</a:t>
            </a:r>
            <a:r>
              <a:rPr lang="en-US" dirty="0" smtClean="0"/>
              <a:t> describes how one class (child/subclass) acquires the properties and behavior of another class (parent/</a:t>
            </a:r>
            <a:r>
              <a:rPr lang="en-US" dirty="0" err="1" smtClean="0"/>
              <a:t>superclass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Define a Parent Class (Super Class)</a:t>
            </a:r>
          </a:p>
          <a:p>
            <a:r>
              <a:rPr lang="en-US" dirty="0" smtClean="0"/>
              <a:t>Create a class that contains common </a:t>
            </a:r>
            <a:r>
              <a:rPr lang="en-US" b="1" dirty="0" smtClean="0"/>
              <a:t>fields and methods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class will be inherited by another class.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Parent 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 = 10;</a:t>
            </a:r>
          </a:p>
          <a:p>
            <a:r>
              <a:rPr lang="en-US" dirty="0" smtClean="0"/>
              <a:t>    void display()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("This is Parent class");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2. Create a Child Class (Sub Class) using extends</a:t>
            </a:r>
          </a:p>
          <a:p>
            <a:r>
              <a:rPr lang="en-US" dirty="0" smtClean="0"/>
              <a:t>Use the </a:t>
            </a:r>
            <a:r>
              <a:rPr lang="en-US" b="1" dirty="0" smtClean="0"/>
              <a:t>extends keyword</a:t>
            </a:r>
            <a:r>
              <a:rPr lang="en-US" dirty="0" smtClean="0"/>
              <a:t> to make one class inherit another.</a:t>
            </a:r>
          </a:p>
          <a:p>
            <a:r>
              <a:rPr lang="en-US" dirty="0" smtClean="0"/>
              <a:t>The child class gets access to all </a:t>
            </a:r>
            <a:r>
              <a:rPr lang="en-US" b="1" dirty="0" smtClean="0"/>
              <a:t>non-private members</a:t>
            </a:r>
            <a:r>
              <a:rPr lang="en-US" dirty="0" smtClean="0"/>
              <a:t> of the parent.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Child extends Parent {</a:t>
            </a:r>
          </a:p>
          <a:p>
            <a:r>
              <a:rPr lang="en-US" dirty="0" smtClean="0"/>
              <a:t>    void show()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("This is Child class");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3. Create an Object of Child Class</a:t>
            </a:r>
          </a:p>
          <a:p>
            <a:r>
              <a:rPr lang="en-US" dirty="0" smtClean="0"/>
              <a:t>When we create an object of the child class: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constructor of the parent class</a:t>
            </a:r>
            <a:r>
              <a:rPr lang="en-US" dirty="0" smtClean="0"/>
              <a:t> executes first (using super() implicitly).</a:t>
            </a:r>
          </a:p>
          <a:p>
            <a:pPr lvl="1"/>
            <a:r>
              <a:rPr lang="en-US" dirty="0" smtClean="0"/>
              <a:t>Then the child class constructor executes.</a:t>
            </a:r>
          </a:p>
          <a:p>
            <a:r>
              <a:rPr lang="en-US" dirty="0" smtClean="0"/>
              <a:t>The object can </a:t>
            </a:r>
            <a:r>
              <a:rPr lang="en-US" b="1" dirty="0" smtClean="0"/>
              <a:t>use both parent and child methods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InheritanceProcess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    Child </a:t>
            </a:r>
            <a:r>
              <a:rPr lang="en-US" dirty="0" err="1" smtClean="0"/>
              <a:t>obj</a:t>
            </a:r>
            <a:r>
              <a:rPr lang="en-US" dirty="0" smtClean="0"/>
              <a:t> = new Child();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obj.display</a:t>
            </a:r>
            <a:r>
              <a:rPr lang="en-US" dirty="0" smtClean="0"/>
              <a:t>();  // Parent class method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obj.show</a:t>
            </a:r>
            <a:r>
              <a:rPr lang="en-US" dirty="0" smtClean="0"/>
              <a:t>();     // Child class method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Output:</a:t>
            </a:r>
            <a:endParaRPr lang="en-US" dirty="0" smtClean="0"/>
          </a:p>
          <a:p>
            <a:r>
              <a:rPr lang="en-US" dirty="0" smtClean="0"/>
              <a:t>This is Parent class </a:t>
            </a:r>
          </a:p>
          <a:p>
            <a:r>
              <a:rPr lang="en-US" dirty="0" smtClean="0"/>
              <a:t>This is Child class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4. Accessing Members</a:t>
            </a:r>
          </a:p>
          <a:p>
            <a:r>
              <a:rPr lang="en-US" dirty="0" smtClean="0"/>
              <a:t>The child class object can access:</a:t>
            </a:r>
            <a:br>
              <a:rPr lang="en-US" dirty="0" smtClean="0"/>
            </a:br>
            <a:r>
              <a:rPr lang="en-US" dirty="0" smtClean="0"/>
              <a:t>✅ All </a:t>
            </a:r>
            <a:r>
              <a:rPr lang="en-US" b="1" dirty="0" smtClean="0"/>
              <a:t>public</a:t>
            </a:r>
            <a:r>
              <a:rPr lang="en-US" dirty="0" smtClean="0"/>
              <a:t> and </a:t>
            </a:r>
            <a:r>
              <a:rPr lang="en-US" b="1" dirty="0" smtClean="0"/>
              <a:t>protected</a:t>
            </a:r>
            <a:r>
              <a:rPr lang="en-US" dirty="0" smtClean="0"/>
              <a:t> members of parent.</a:t>
            </a:r>
            <a:br>
              <a:rPr lang="en-US" dirty="0" smtClean="0"/>
            </a:br>
            <a:r>
              <a:rPr lang="en-US" dirty="0" smtClean="0"/>
              <a:t>❌ Cannot access </a:t>
            </a:r>
            <a:r>
              <a:rPr lang="en-US" b="1" dirty="0" smtClean="0"/>
              <a:t>private</a:t>
            </a:r>
            <a:r>
              <a:rPr lang="en-US" dirty="0" smtClean="0"/>
              <a:t> members directly.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Inheritance Process (Step by Step Flow)</a:t>
            </a:r>
          </a:p>
          <a:p>
            <a:r>
              <a:rPr lang="en-US" dirty="0" smtClean="0"/>
              <a:t>Write parent class.</a:t>
            </a:r>
          </a:p>
          <a:p>
            <a:r>
              <a:rPr lang="en-US" dirty="0" smtClean="0"/>
              <a:t>Write child class using extends.</a:t>
            </a:r>
          </a:p>
          <a:p>
            <a:r>
              <a:rPr lang="en-US" dirty="0" smtClean="0"/>
              <a:t>Create object of child class.</a:t>
            </a:r>
          </a:p>
          <a:p>
            <a:r>
              <a:rPr lang="en-US" dirty="0" smtClean="0"/>
              <a:t>Parent’s members are available in child class object.</a:t>
            </a:r>
          </a:p>
          <a:p>
            <a:r>
              <a:rPr lang="en-US" dirty="0" smtClean="0"/>
              <a:t>Constructors execute in order: Parent → Child.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3.Types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 supports different types of inheritance. However, </a:t>
            </a:r>
            <a:r>
              <a:rPr lang="en-US" b="1" dirty="0" smtClean="0"/>
              <a:t>multiple inheritance with classes is not supported</a:t>
            </a:r>
            <a:r>
              <a:rPr lang="en-US" dirty="0" smtClean="0"/>
              <a:t> (to avoid ambiguity), but </a:t>
            </a:r>
            <a:r>
              <a:rPr lang="en-US" b="1" dirty="0" smtClean="0"/>
              <a:t>it is supported through interfaces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Inheritance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Single Inheritance</a:t>
            </a:r>
            <a:r>
              <a:rPr lang="en-US" dirty="0" smtClean="0"/>
              <a:t> – One child inherits one parent.</a:t>
            </a:r>
          </a:p>
          <a:p>
            <a:r>
              <a:rPr lang="en-US" b="1" dirty="0" smtClean="0"/>
              <a:t>Multilevel Inheritance</a:t>
            </a:r>
            <a:r>
              <a:rPr lang="en-US" dirty="0" smtClean="0"/>
              <a:t> – A class inherits another class, which is also inherited by another.</a:t>
            </a:r>
          </a:p>
          <a:p>
            <a:r>
              <a:rPr lang="en-US" b="1" dirty="0" smtClean="0"/>
              <a:t>Hierarchical Inheritance</a:t>
            </a:r>
            <a:r>
              <a:rPr lang="en-US" dirty="0" smtClean="0"/>
              <a:t> – Multiple child classes inherit the same parent.</a:t>
            </a:r>
          </a:p>
          <a:p>
            <a:r>
              <a:rPr lang="en-US" b="1" dirty="0" smtClean="0"/>
              <a:t>Multiple Inheritance (via Interfaces only)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class inherits from </a:t>
            </a:r>
            <a:r>
              <a:rPr lang="en-US" b="1" dirty="0" smtClean="0"/>
              <a:t>only one parent class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Multilevel Inheritance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class is derived from another class, which is also derived from another class.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child classes inherit from the </a:t>
            </a:r>
            <a:r>
              <a:rPr lang="en-US" b="1" dirty="0" smtClean="0"/>
              <a:t>same parent class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991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Multiple Inheritance (via Interfaces only)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Java </a:t>
            </a:r>
            <a:r>
              <a:rPr lang="en-US" b="1" dirty="0" smtClean="0"/>
              <a:t>does not support multiple inheritance with classes</a:t>
            </a:r>
            <a:r>
              <a:rPr lang="en-US" dirty="0" smtClean="0"/>
              <a:t> (to avoid the </a:t>
            </a:r>
            <a:r>
              <a:rPr lang="en-US" b="1" dirty="0" smtClean="0"/>
              <a:t>diamond problem</a:t>
            </a:r>
            <a:r>
              <a:rPr lang="en-US" dirty="0" smtClean="0"/>
              <a:t>).</a:t>
            </a:r>
          </a:p>
          <a:p>
            <a:r>
              <a:rPr lang="en-US" dirty="0" smtClean="0"/>
              <a:t>But, it supports multiple inheritance using </a:t>
            </a:r>
            <a:r>
              <a:rPr lang="en-US" b="1" dirty="0" smtClean="0"/>
              <a:t>interfaces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4.Universal Super Class-Object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Java, </a:t>
            </a:r>
            <a:r>
              <a:rPr lang="en-US" b="1" dirty="0" smtClean="0"/>
              <a:t>Object class</a:t>
            </a:r>
            <a:r>
              <a:rPr lang="en-US" dirty="0" smtClean="0"/>
              <a:t> (defined in </a:t>
            </a:r>
            <a:r>
              <a:rPr lang="en-US" dirty="0" err="1" smtClean="0"/>
              <a:t>java.lang</a:t>
            </a:r>
            <a:r>
              <a:rPr lang="en-US" dirty="0" smtClean="0"/>
              <a:t> package) is the </a:t>
            </a:r>
            <a:r>
              <a:rPr lang="en-US" b="1" dirty="0" err="1" smtClean="0"/>
              <a:t>superclass</a:t>
            </a:r>
            <a:r>
              <a:rPr lang="en-US" b="1" dirty="0" smtClean="0"/>
              <a:t> of all classes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Every class in Java </a:t>
            </a:r>
            <a:r>
              <a:rPr lang="en-US" b="1" dirty="0" smtClean="0"/>
              <a:t>implicitly inherits</a:t>
            </a:r>
            <a:r>
              <a:rPr lang="en-US" dirty="0" smtClean="0"/>
              <a:t> the Object class (directly or indirectly).</a:t>
            </a:r>
            <a:br>
              <a:rPr lang="en-US" dirty="0" smtClean="0"/>
            </a:br>
            <a:r>
              <a:rPr lang="en-US" dirty="0" smtClean="0"/>
              <a:t>If a class does not extend any other class, it </a:t>
            </a:r>
            <a:r>
              <a:rPr lang="en-US" b="1" dirty="0" smtClean="0"/>
              <a:t>automatically extends Object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Super Class-Object Class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071546"/>
            <a:ext cx="6929486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Super Class-Object Class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78705" y="2571744"/>
            <a:ext cx="4084192" cy="21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Super Class-Object Class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Important Methods of Object Class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Object class provides several methods</a:t>
            </a:r>
            <a:r>
              <a:rPr lang="en-US" dirty="0" smtClean="0"/>
              <a:t>, which every class in Java inherits.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Super Class-Object Class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9626" y="1428736"/>
            <a:ext cx="7144748" cy="485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Super Class-Object Class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61521" y="1500174"/>
            <a:ext cx="7220958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5.</a:t>
            </a:r>
            <a:r>
              <a:rPr lang="en-US" dirty="0" smtClean="0"/>
              <a:t> Inhibiting Inheritance of Class Using Final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Java, the </a:t>
            </a:r>
            <a:r>
              <a:rPr lang="en-US" b="1" dirty="0" smtClean="0"/>
              <a:t>final keyword</a:t>
            </a:r>
            <a:r>
              <a:rPr lang="en-US" dirty="0" smtClean="0"/>
              <a:t> is used to restrict usage.</a:t>
            </a:r>
          </a:p>
          <a:p>
            <a:r>
              <a:rPr lang="en-US" dirty="0" smtClean="0"/>
              <a:t>When a </a:t>
            </a:r>
            <a:r>
              <a:rPr lang="en-US" b="1" dirty="0" smtClean="0"/>
              <a:t>class is declared as final</a:t>
            </a:r>
            <a:r>
              <a:rPr lang="en-US" dirty="0" smtClean="0"/>
              <a:t>, it </a:t>
            </a:r>
            <a:r>
              <a:rPr lang="en-US" b="1" dirty="0" smtClean="0"/>
              <a:t>cannot be inherited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Inhibiting Inheritance of Class Using Final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 of a Final Class in Java</a:t>
            </a:r>
          </a:p>
          <a:p>
            <a:r>
              <a:rPr lang="en-US" dirty="0" smtClean="0"/>
              <a:t>Some classes in Java are </a:t>
            </a:r>
            <a:r>
              <a:rPr lang="en-US" b="1" dirty="0" smtClean="0"/>
              <a:t>declared final</a:t>
            </a:r>
            <a:r>
              <a:rPr lang="en-US" dirty="0" smtClean="0"/>
              <a:t> to maintain </a:t>
            </a:r>
            <a:r>
              <a:rPr lang="en-US" b="1" dirty="0" smtClean="0"/>
              <a:t>security and consistency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For example:</a:t>
            </a:r>
          </a:p>
          <a:p>
            <a:r>
              <a:rPr lang="en-US" dirty="0" err="1" smtClean="0"/>
              <a:t>java.lang.String</a:t>
            </a:r>
            <a:r>
              <a:rPr lang="en-US" dirty="0" smtClean="0"/>
              <a:t> class is final → ensures immutability.</a:t>
            </a:r>
          </a:p>
          <a:p>
            <a:r>
              <a:rPr lang="en-US" dirty="0" err="1" smtClean="0"/>
              <a:t>java.lang.Math</a:t>
            </a:r>
            <a:r>
              <a:rPr lang="en-US" dirty="0" smtClean="0"/>
              <a:t> class is final.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Why Use Final Classes?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Security</a:t>
            </a:r>
            <a:r>
              <a:rPr lang="en-US" dirty="0" smtClean="0"/>
              <a:t> → Prevents altering critical classes (like String).</a:t>
            </a:r>
          </a:p>
          <a:p>
            <a:r>
              <a:rPr lang="en-US" b="1" dirty="0" smtClean="0"/>
              <a:t>Immutability</a:t>
            </a:r>
            <a:r>
              <a:rPr lang="en-US" dirty="0" smtClean="0"/>
              <a:t> → Ensures object state does not change (important in multithreading).</a:t>
            </a:r>
          </a:p>
          <a:p>
            <a:r>
              <a:rPr lang="en-US" b="1" dirty="0" smtClean="0"/>
              <a:t>Design choice</a:t>
            </a:r>
            <a:r>
              <a:rPr lang="en-US" dirty="0" smtClean="0"/>
              <a:t> → Stops unwanted inheritance where extension is not meaningful.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6.</a:t>
            </a:r>
            <a:r>
              <a:rPr lang="en-US" dirty="0" smtClean="0"/>
              <a:t> Access Control and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200" b="1" dirty="0" smtClean="0"/>
              <a:t>Access Control in Java</a:t>
            </a:r>
          </a:p>
          <a:p>
            <a:r>
              <a:rPr lang="en-US" sz="4200" dirty="0" smtClean="0"/>
              <a:t>Access control is defined using </a:t>
            </a:r>
            <a:r>
              <a:rPr lang="en-US" sz="4200" b="1" dirty="0" smtClean="0"/>
              <a:t>access </a:t>
            </a:r>
            <a:r>
              <a:rPr lang="en-US" sz="4200" b="1" dirty="0" err="1" smtClean="0"/>
              <a:t>specifiers</a:t>
            </a:r>
            <a:r>
              <a:rPr lang="en-US" sz="4200" b="1" dirty="0" smtClean="0"/>
              <a:t> (modifiers)</a:t>
            </a:r>
            <a:r>
              <a:rPr lang="en-US" sz="4200" dirty="0" smtClean="0"/>
              <a:t>.</a:t>
            </a:r>
            <a:br>
              <a:rPr lang="en-US" sz="4200" dirty="0" smtClean="0"/>
            </a:br>
            <a:r>
              <a:rPr lang="en-US" sz="4200" dirty="0" smtClean="0"/>
              <a:t>They determine </a:t>
            </a:r>
            <a:r>
              <a:rPr lang="en-US" sz="4200" b="1" dirty="0" smtClean="0"/>
              <a:t>which members (fields/methods) of a class can be inherited and accessed</a:t>
            </a:r>
            <a:r>
              <a:rPr lang="en-US" sz="4200" dirty="0" smtClean="0"/>
              <a:t> by subclasses.</a:t>
            </a:r>
          </a:p>
          <a:p>
            <a:r>
              <a:rPr lang="en-US" sz="4200" b="1" dirty="0" smtClean="0"/>
              <a:t>Access </a:t>
            </a:r>
            <a:r>
              <a:rPr lang="en-US" sz="4200" b="1" dirty="0" err="1" smtClean="0"/>
              <a:t>Specifiers</a:t>
            </a:r>
            <a:r>
              <a:rPr lang="en-US" sz="4200" b="1" dirty="0" smtClean="0"/>
              <a:t> in Java:</a:t>
            </a:r>
          </a:p>
          <a:p>
            <a:r>
              <a:rPr lang="en-US" sz="4200" b="1" dirty="0" smtClean="0"/>
              <a:t>private</a:t>
            </a:r>
            <a:r>
              <a:rPr lang="en-US" sz="4200" dirty="0" smtClean="0"/>
              <a:t> – Accessible only within the same class.</a:t>
            </a:r>
          </a:p>
          <a:p>
            <a:r>
              <a:rPr lang="en-US" sz="4200" b="1" dirty="0" smtClean="0"/>
              <a:t>default (no modifier)</a:t>
            </a:r>
            <a:r>
              <a:rPr lang="en-US" sz="4200" dirty="0" smtClean="0"/>
              <a:t> – Accessible within the same package.</a:t>
            </a:r>
          </a:p>
          <a:p>
            <a:r>
              <a:rPr lang="en-US" sz="4200" b="1" dirty="0" smtClean="0"/>
              <a:t>protected</a:t>
            </a:r>
            <a:r>
              <a:rPr lang="en-US" sz="4200" dirty="0" smtClean="0"/>
              <a:t> – Accessible within the same package </a:t>
            </a:r>
            <a:r>
              <a:rPr lang="en-US" sz="4200" b="1" dirty="0" smtClean="0"/>
              <a:t>and</a:t>
            </a:r>
            <a:r>
              <a:rPr lang="en-US" sz="4200" dirty="0" smtClean="0"/>
              <a:t> in subclasses (even if they are in different packages).</a:t>
            </a:r>
          </a:p>
          <a:p>
            <a:r>
              <a:rPr lang="en-US" sz="4200" b="1" dirty="0" smtClean="0"/>
              <a:t>public</a:t>
            </a:r>
            <a:r>
              <a:rPr lang="en-US" sz="4200" dirty="0" smtClean="0"/>
              <a:t> – Accessible everywhere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Access Control with Inheritance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643050"/>
            <a:ext cx="6929486" cy="3368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Access Control with Inheritance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71612"/>
            <a:ext cx="8286808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Access Control with Inheritance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Output:</a:t>
            </a:r>
          </a:p>
          <a:p>
            <a:r>
              <a:rPr lang="en-US" dirty="0" smtClean="0"/>
              <a:t>20 30 40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Access Control with Inheritance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Important Notes</a:t>
            </a:r>
          </a:p>
          <a:p>
            <a:r>
              <a:rPr lang="en-US" b="1" dirty="0" smtClean="0"/>
              <a:t>Private members</a:t>
            </a:r>
            <a:r>
              <a:rPr lang="en-US" dirty="0" smtClean="0"/>
              <a:t> are </a:t>
            </a:r>
            <a:r>
              <a:rPr lang="en-US" b="1" dirty="0" smtClean="0"/>
              <a:t>not inherited</a:t>
            </a:r>
            <a:r>
              <a:rPr lang="en-US" dirty="0" smtClean="0"/>
              <a:t> at all.</a:t>
            </a:r>
          </a:p>
          <a:p>
            <a:r>
              <a:rPr lang="en-US" b="1" dirty="0" smtClean="0"/>
              <a:t>Default members</a:t>
            </a:r>
            <a:r>
              <a:rPr lang="en-US" dirty="0" smtClean="0"/>
              <a:t> are inherited only within the </a:t>
            </a:r>
            <a:r>
              <a:rPr lang="en-US" b="1" dirty="0" smtClean="0"/>
              <a:t>same package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Protected members</a:t>
            </a:r>
            <a:r>
              <a:rPr lang="en-US" dirty="0" smtClean="0"/>
              <a:t> are inherited and accessible in subclasses even if they are in a </a:t>
            </a:r>
            <a:r>
              <a:rPr lang="en-US" b="1" dirty="0" smtClean="0"/>
              <a:t>different package</a:t>
            </a:r>
            <a:r>
              <a:rPr lang="en-US" dirty="0" smtClean="0"/>
              <a:t> (but only through inheritance).</a:t>
            </a:r>
          </a:p>
          <a:p>
            <a:r>
              <a:rPr lang="en-US" b="1" dirty="0" smtClean="0"/>
              <a:t>Public members</a:t>
            </a:r>
            <a:r>
              <a:rPr lang="en-US" dirty="0" smtClean="0"/>
              <a:t> are inherited everywhere.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7.</a:t>
            </a:r>
            <a:r>
              <a:rPr lang="en-US" dirty="0" smtClean="0"/>
              <a:t> Multilevel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Multilevel Inheritance</a:t>
            </a:r>
            <a:r>
              <a:rPr lang="en-US" dirty="0" smtClean="0"/>
              <a:t> means a class is derived from another class, which is also derived from another class.</a:t>
            </a:r>
          </a:p>
          <a:p>
            <a:r>
              <a:rPr lang="en-US" dirty="0" smtClean="0"/>
              <a:t>Like a </a:t>
            </a:r>
            <a:r>
              <a:rPr lang="en-US" b="1" dirty="0" smtClean="0"/>
              <a:t>chain of inheritance</a:t>
            </a:r>
            <a:r>
              <a:rPr lang="en-US" dirty="0" smtClean="0"/>
              <a:t> (Grandparent → Parent → Child).</a:t>
            </a:r>
          </a:p>
          <a:p>
            <a:r>
              <a:rPr lang="en-US" dirty="0" smtClean="0"/>
              <a:t>Each subclass inherits the properties and methods of its immediate parent, and indirectly from all its ancestors.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8.</a:t>
            </a:r>
            <a:r>
              <a:rPr lang="en-US" dirty="0" smtClean="0"/>
              <a:t> Application of Keyword Super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is super?</a:t>
            </a:r>
          </a:p>
          <a:p>
            <a:r>
              <a:rPr lang="en-US" dirty="0" smtClean="0"/>
              <a:t>super is a </a:t>
            </a:r>
            <a:r>
              <a:rPr lang="en-US" b="1" dirty="0" smtClean="0"/>
              <a:t>reference variable</a:t>
            </a:r>
            <a:r>
              <a:rPr lang="en-US" dirty="0" smtClean="0"/>
              <a:t> in Java that refers to the </a:t>
            </a:r>
            <a:r>
              <a:rPr lang="en-US" b="1" dirty="0" smtClean="0"/>
              <a:t>immediate parent class object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is mainly used to </a:t>
            </a:r>
            <a:r>
              <a:rPr lang="en-US" b="1" dirty="0" smtClean="0"/>
              <a:t>access parent class members (fields, methods, constructors)</a:t>
            </a:r>
            <a:r>
              <a:rPr lang="en-US" dirty="0" smtClean="0"/>
              <a:t> when they are hidden/overridden in the child class.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8.</a:t>
            </a:r>
            <a:r>
              <a:rPr lang="en-US" dirty="0" smtClean="0"/>
              <a:t> Application of Keyword Super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Summary of super keyword Applications</a:t>
            </a:r>
          </a:p>
          <a:p>
            <a:r>
              <a:rPr lang="en-US" b="1" dirty="0" smtClean="0"/>
              <a:t>Access parent class variable</a:t>
            </a:r>
            <a:r>
              <a:rPr lang="en-US" dirty="0" smtClean="0"/>
              <a:t> → when hidden by child variable.</a:t>
            </a:r>
          </a:p>
          <a:p>
            <a:r>
              <a:rPr lang="en-US" b="1" dirty="0" smtClean="0"/>
              <a:t>Access parent class method</a:t>
            </a:r>
            <a:r>
              <a:rPr lang="en-US" dirty="0" smtClean="0"/>
              <a:t> → when overridden in child class.</a:t>
            </a:r>
          </a:p>
          <a:p>
            <a:r>
              <a:rPr lang="en-US" b="1" dirty="0" smtClean="0"/>
              <a:t>Access parent class constructor</a:t>
            </a:r>
            <a:r>
              <a:rPr lang="en-US" dirty="0" smtClean="0"/>
              <a:t> → using super() inside child constructor.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9.</a:t>
            </a:r>
            <a:r>
              <a:rPr lang="en-US" dirty="0" smtClean="0"/>
              <a:t> Constructor Method and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inheritance comes into play:</a:t>
            </a:r>
          </a:p>
          <a:p>
            <a:r>
              <a:rPr lang="en-US" b="1" dirty="0" smtClean="0"/>
              <a:t>Constructors are not inherited.</a:t>
            </a:r>
            <a:endParaRPr lang="en-US" dirty="0" smtClean="0"/>
          </a:p>
          <a:p>
            <a:r>
              <a:rPr lang="en-US" dirty="0" smtClean="0"/>
              <a:t>But when a subclass object is created, </a:t>
            </a:r>
            <a:r>
              <a:rPr lang="en-US" b="1" dirty="0" smtClean="0"/>
              <a:t>the </a:t>
            </a:r>
            <a:r>
              <a:rPr lang="en-US" b="1" dirty="0" err="1" smtClean="0"/>
              <a:t>superclass</a:t>
            </a:r>
            <a:r>
              <a:rPr lang="en-US" b="1" dirty="0" smtClean="0"/>
              <a:t> constructor is always executed first</a:t>
            </a:r>
            <a:r>
              <a:rPr lang="en-US" dirty="0" smtClean="0"/>
              <a:t>, then the subclass constructor.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Constructor Method and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Rules:</a:t>
            </a:r>
          </a:p>
          <a:p>
            <a:r>
              <a:rPr lang="en-US" dirty="0" smtClean="0"/>
              <a:t>By default, the subclass constructor calls the </a:t>
            </a:r>
            <a:r>
              <a:rPr lang="en-US" b="1" dirty="0" smtClean="0"/>
              <a:t>no-argument constructor</a:t>
            </a:r>
            <a:r>
              <a:rPr lang="en-US" dirty="0" smtClean="0"/>
              <a:t> of the </a:t>
            </a:r>
            <a:r>
              <a:rPr lang="en-US" dirty="0" err="1" smtClean="0"/>
              <a:t>superclass</a:t>
            </a:r>
            <a:r>
              <a:rPr lang="en-US" dirty="0" smtClean="0"/>
              <a:t> using super().</a:t>
            </a:r>
          </a:p>
          <a:p>
            <a:r>
              <a:rPr lang="en-US" dirty="0" smtClean="0"/>
              <a:t>If the </a:t>
            </a:r>
            <a:r>
              <a:rPr lang="en-US" dirty="0" err="1" smtClean="0"/>
              <a:t>superclass</a:t>
            </a:r>
            <a:r>
              <a:rPr lang="en-US" dirty="0" smtClean="0"/>
              <a:t> does </a:t>
            </a:r>
            <a:r>
              <a:rPr lang="en-US" b="1" dirty="0" smtClean="0"/>
              <a:t>not have a no-argument constructor</a:t>
            </a:r>
            <a:r>
              <a:rPr lang="en-US" dirty="0" smtClean="0"/>
              <a:t>, then the subclass must explicitly call one of the </a:t>
            </a:r>
            <a:r>
              <a:rPr lang="en-US" dirty="0" err="1" smtClean="0"/>
              <a:t>superclass</a:t>
            </a:r>
            <a:r>
              <a:rPr lang="en-US" dirty="0" smtClean="0"/>
              <a:t> constructors using super(parameters).</a:t>
            </a:r>
          </a:p>
          <a:p>
            <a:r>
              <a:rPr lang="en-US" dirty="0" smtClean="0"/>
              <a:t>If you don’t write super(), the compiler adds it automatically (only for no-</a:t>
            </a:r>
            <a:r>
              <a:rPr lang="en-US" dirty="0" err="1" smtClean="0"/>
              <a:t>arg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super() must always be the </a:t>
            </a:r>
            <a:r>
              <a:rPr lang="en-US" b="1" dirty="0" smtClean="0"/>
              <a:t>first statement</a:t>
            </a:r>
            <a:r>
              <a:rPr lang="en-US" dirty="0" smtClean="0"/>
              <a:t> in a constructor.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10.</a:t>
            </a:r>
            <a:r>
              <a:rPr lang="en-US" dirty="0" smtClean="0"/>
              <a:t> Dynamic Method Dispatch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Dynamic Method Dispatch</a:t>
            </a:r>
            <a:r>
              <a:rPr lang="en-US" dirty="0" smtClean="0"/>
              <a:t> (also called </a:t>
            </a:r>
            <a:r>
              <a:rPr lang="en-US" b="1" dirty="0" smtClean="0"/>
              <a:t>Runtime Polymorphism</a:t>
            </a:r>
            <a:r>
              <a:rPr lang="en-US" dirty="0" smtClean="0"/>
              <a:t>) is the process by which a </a:t>
            </a:r>
            <a:r>
              <a:rPr lang="en-US" b="1" dirty="0" smtClean="0"/>
              <a:t>method call to an overridden method</a:t>
            </a:r>
            <a:r>
              <a:rPr lang="en-US" dirty="0" smtClean="0"/>
              <a:t> is resolved </a:t>
            </a:r>
            <a:r>
              <a:rPr lang="en-US" b="1" dirty="0" smtClean="0"/>
              <a:t>at runtime</a:t>
            </a:r>
            <a:r>
              <a:rPr lang="en-US" dirty="0" smtClean="0"/>
              <a:t>, not at compile time.</a:t>
            </a:r>
          </a:p>
          <a:p>
            <a:r>
              <a:rPr lang="en-US" dirty="0" smtClean="0"/>
              <a:t>It allows Java to decide </a:t>
            </a:r>
            <a:r>
              <a:rPr lang="en-US" b="1" dirty="0" smtClean="0"/>
              <a:t>which version of the method (parent’s or child’s)</a:t>
            </a:r>
            <a:r>
              <a:rPr lang="en-US" dirty="0" smtClean="0"/>
              <a:t> to execute </a:t>
            </a:r>
            <a:r>
              <a:rPr lang="en-US" b="1" dirty="0" smtClean="0"/>
              <a:t>based on the object being referred to</a:t>
            </a:r>
            <a:r>
              <a:rPr lang="en-US" dirty="0" smtClean="0"/>
              <a:t>, not the reference type.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10.</a:t>
            </a:r>
            <a:r>
              <a:rPr lang="en-US" dirty="0" smtClean="0"/>
              <a:t> Dynamic Method Dispatch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Key Points</a:t>
            </a:r>
          </a:p>
          <a:p>
            <a:r>
              <a:rPr lang="en-US" sz="2400" dirty="0" smtClean="0"/>
              <a:t>It works only with </a:t>
            </a:r>
            <a:r>
              <a:rPr lang="en-US" sz="2400" b="1" dirty="0" smtClean="0"/>
              <a:t>method overriding</a:t>
            </a:r>
            <a:r>
              <a:rPr lang="en-US" sz="2400" dirty="0" smtClean="0"/>
              <a:t> (not method overloading).</a:t>
            </a:r>
          </a:p>
          <a:p>
            <a:r>
              <a:rPr lang="en-US" sz="2400" dirty="0" smtClean="0"/>
              <a:t>A </a:t>
            </a:r>
            <a:r>
              <a:rPr lang="en-US" sz="2400" b="1" dirty="0" err="1" smtClean="0"/>
              <a:t>superclass</a:t>
            </a:r>
            <a:r>
              <a:rPr lang="en-US" sz="2400" b="1" dirty="0" smtClean="0"/>
              <a:t> reference variable</a:t>
            </a:r>
            <a:r>
              <a:rPr lang="en-US" sz="2400" dirty="0" smtClean="0"/>
              <a:t> can refer to a </a:t>
            </a:r>
            <a:r>
              <a:rPr lang="en-US" sz="2400" b="1" dirty="0" smtClean="0"/>
              <a:t>subclass object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/>
              <a:t>method call is resolved at runtime</a:t>
            </a:r>
            <a:r>
              <a:rPr lang="en-US" sz="2400" dirty="0" smtClean="0"/>
              <a:t>, depending on the object type.</a:t>
            </a:r>
          </a:p>
          <a:p>
            <a:r>
              <a:rPr lang="en-US" sz="2400" dirty="0" smtClean="0"/>
              <a:t>Provides </a:t>
            </a:r>
            <a:r>
              <a:rPr lang="en-US" sz="2400" b="1" dirty="0" smtClean="0"/>
              <a:t>run-time polymorphism</a:t>
            </a:r>
            <a:r>
              <a:rPr lang="en-US" sz="2400" dirty="0" smtClean="0"/>
              <a:t> in Java.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11.</a:t>
            </a:r>
            <a:r>
              <a:rPr lang="en-US" dirty="0" smtClean="0"/>
              <a:t> Abstract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is an Abstract Class?</a:t>
            </a:r>
          </a:p>
          <a:p>
            <a:r>
              <a:rPr lang="en-US" dirty="0" smtClean="0"/>
              <a:t>An </a:t>
            </a:r>
            <a:r>
              <a:rPr lang="en-US" b="1" dirty="0" smtClean="0"/>
              <a:t>abstract class</a:t>
            </a:r>
            <a:r>
              <a:rPr lang="en-US" dirty="0" smtClean="0"/>
              <a:t> in Java is a class declared with the keyword abstract.</a:t>
            </a:r>
          </a:p>
          <a:p>
            <a:r>
              <a:rPr lang="en-US" dirty="0" smtClean="0"/>
              <a:t>It </a:t>
            </a:r>
            <a:r>
              <a:rPr lang="en-US" b="1" dirty="0" smtClean="0"/>
              <a:t>cannot be instantiated</a:t>
            </a:r>
            <a:r>
              <a:rPr lang="en-US" dirty="0" smtClean="0"/>
              <a:t> (objects can’t be created directly).</a:t>
            </a:r>
          </a:p>
          <a:p>
            <a:r>
              <a:rPr lang="en-US" dirty="0" smtClean="0"/>
              <a:t>It is used to provide a </a:t>
            </a:r>
            <a:r>
              <a:rPr lang="en-US" b="1" dirty="0" smtClean="0"/>
              <a:t>base for other classes</a:t>
            </a:r>
            <a:r>
              <a:rPr lang="en-US" dirty="0" smtClean="0"/>
              <a:t> to extend and implement its </a:t>
            </a:r>
            <a:r>
              <a:rPr lang="en-US" b="1" dirty="0" smtClean="0"/>
              <a:t>abstract methods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Abstract Methods</a:t>
            </a:r>
          </a:p>
          <a:p>
            <a:r>
              <a:rPr lang="en-US" dirty="0" smtClean="0"/>
              <a:t>An </a:t>
            </a:r>
            <a:r>
              <a:rPr lang="en-US" b="1" dirty="0" smtClean="0"/>
              <a:t>abstract method</a:t>
            </a:r>
            <a:r>
              <a:rPr lang="en-US" dirty="0" smtClean="0"/>
              <a:t> is a method declared </a:t>
            </a:r>
            <a:r>
              <a:rPr lang="en-US" b="1" dirty="0" smtClean="0"/>
              <a:t>without implementation</a:t>
            </a:r>
            <a:r>
              <a:rPr lang="en-US" dirty="0" smtClean="0"/>
              <a:t> (no body).</a:t>
            </a:r>
          </a:p>
          <a:p>
            <a:r>
              <a:rPr lang="en-US" dirty="0" smtClean="0"/>
              <a:t>Subclasses must </a:t>
            </a:r>
            <a:r>
              <a:rPr lang="en-US" b="1" dirty="0" smtClean="0"/>
              <a:t>override and implement</a:t>
            </a:r>
            <a:r>
              <a:rPr lang="en-US" dirty="0" smtClean="0"/>
              <a:t> abstract methods.</a:t>
            </a:r>
          </a:p>
          <a:p>
            <a:r>
              <a:rPr lang="en-US" dirty="0" smtClean="0"/>
              <a:t>Declared using abstract keyword.</a:t>
            </a:r>
          </a:p>
          <a:p>
            <a:r>
              <a:rPr lang="en-US" smtClean="0"/>
              <a:t>if </a:t>
            </a:r>
            <a:r>
              <a:rPr lang="en-US" dirty="0" smtClean="0"/>
              <a:t>a class contains </a:t>
            </a:r>
            <a:r>
              <a:rPr lang="en-US" b="1" dirty="0" smtClean="0"/>
              <a:t>at least one abstract method</a:t>
            </a:r>
            <a:r>
              <a:rPr lang="en-US" dirty="0" smtClean="0"/>
              <a:t>, the class itself must be declared abstract.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12.</a:t>
            </a:r>
            <a:r>
              <a:rPr lang="en-US" dirty="0" smtClean="0"/>
              <a:t> Interfaces and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Interfaces in Java</a:t>
            </a:r>
          </a:p>
          <a:p>
            <a:r>
              <a:rPr lang="en-US" dirty="0" smtClean="0"/>
              <a:t>An </a:t>
            </a:r>
            <a:r>
              <a:rPr lang="en-US" b="1" dirty="0" smtClean="0"/>
              <a:t>interface</a:t>
            </a:r>
            <a:r>
              <a:rPr lang="en-US" dirty="0" smtClean="0"/>
              <a:t> is a </a:t>
            </a:r>
            <a:r>
              <a:rPr lang="en-US" b="1" dirty="0" smtClean="0"/>
              <a:t>blueprint of a class</a:t>
            </a:r>
            <a:r>
              <a:rPr lang="en-US" dirty="0" smtClean="0"/>
              <a:t> that contains only:</a:t>
            </a:r>
          </a:p>
          <a:p>
            <a:pPr lvl="1"/>
            <a:r>
              <a:rPr lang="en-US" b="1" dirty="0" smtClean="0"/>
              <a:t>Abstract methods</a:t>
            </a:r>
            <a:r>
              <a:rPr lang="en-US" dirty="0" smtClean="0"/>
              <a:t> (till Java 7),</a:t>
            </a:r>
          </a:p>
          <a:p>
            <a:pPr lvl="1"/>
            <a:r>
              <a:rPr lang="en-US" b="1" dirty="0" smtClean="0"/>
              <a:t>Default &amp; static methods</a:t>
            </a:r>
            <a:r>
              <a:rPr lang="en-US" dirty="0" smtClean="0"/>
              <a:t> (Java 8+),</a:t>
            </a:r>
          </a:p>
          <a:p>
            <a:pPr lvl="1"/>
            <a:r>
              <a:rPr lang="en-US" b="1" dirty="0" smtClean="0"/>
              <a:t>Private methods</a:t>
            </a:r>
            <a:r>
              <a:rPr lang="en-US" dirty="0" smtClean="0"/>
              <a:t> (Java 9+).</a:t>
            </a:r>
          </a:p>
          <a:p>
            <a:r>
              <a:rPr lang="en-US" dirty="0" smtClean="0"/>
              <a:t>By default, all methods in an interface are </a:t>
            </a:r>
            <a:r>
              <a:rPr lang="en-US" b="1" dirty="0" smtClean="0"/>
              <a:t>public and abstract</a:t>
            </a:r>
            <a:r>
              <a:rPr lang="en-US" dirty="0" smtClean="0"/>
              <a:t> (except default, static, and private).</a:t>
            </a:r>
          </a:p>
          <a:p>
            <a:r>
              <a:rPr lang="en-US" dirty="0" smtClean="0"/>
              <a:t>Variables in an interface are implicitly:</a:t>
            </a:r>
          </a:p>
          <a:p>
            <a:pPr lvl="1"/>
            <a:r>
              <a:rPr lang="en-US" dirty="0" smtClean="0"/>
              <a:t>public static final (constants).</a:t>
            </a:r>
          </a:p>
          <a:p>
            <a:r>
              <a:rPr lang="en-US" b="1" dirty="0" smtClean="0"/>
              <a:t>interfaces support multiple inheritance</a:t>
            </a:r>
            <a:r>
              <a:rPr lang="en-US" dirty="0" smtClean="0"/>
              <a:t> in Java (since a class can implement multiple interfaces).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12.</a:t>
            </a:r>
            <a:r>
              <a:rPr lang="en-US" dirty="0" smtClean="0"/>
              <a:t> Interfaces and Inheritance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47602" y="1619730"/>
            <a:ext cx="4448796" cy="44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Interface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Declared using the </a:t>
            </a:r>
            <a:r>
              <a:rPr lang="en-US" b="1" dirty="0" smtClean="0"/>
              <a:t>interface</a:t>
            </a:r>
            <a:r>
              <a:rPr lang="en-US" dirty="0" smtClean="0"/>
              <a:t> keyword.</a:t>
            </a:r>
          </a:p>
          <a:p>
            <a:r>
              <a:rPr lang="en-US" dirty="0" smtClean="0"/>
              <a:t>All methods inside an interface are </a:t>
            </a:r>
            <a:r>
              <a:rPr lang="en-US" b="1" dirty="0" smtClean="0"/>
              <a:t>public and abstract</a:t>
            </a:r>
            <a:r>
              <a:rPr lang="en-US" dirty="0" smtClean="0"/>
              <a:t> by default.</a:t>
            </a:r>
          </a:p>
          <a:p>
            <a:r>
              <a:rPr lang="en-US" dirty="0" smtClean="0"/>
              <a:t>Variables in an interface are </a:t>
            </a:r>
            <a:r>
              <a:rPr lang="en-US" b="1" dirty="0" smtClean="0"/>
              <a:t>public, static, and final</a:t>
            </a:r>
            <a:r>
              <a:rPr lang="en-US" dirty="0" smtClean="0"/>
              <a:t> by default.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Interface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class can implement </a:t>
            </a:r>
            <a:r>
              <a:rPr lang="en-US" b="1" dirty="0" smtClean="0"/>
              <a:t>multiple interfaces</a:t>
            </a:r>
            <a:r>
              <a:rPr lang="en-US" dirty="0" smtClean="0"/>
              <a:t> (achieving multiple inheritance).</a:t>
            </a:r>
          </a:p>
          <a:p>
            <a:r>
              <a:rPr lang="en-US" dirty="0" smtClean="0"/>
              <a:t>From </a:t>
            </a:r>
            <a:r>
              <a:rPr lang="en-US" b="1" dirty="0" smtClean="0"/>
              <a:t>Java 8 onwards</a:t>
            </a:r>
            <a:r>
              <a:rPr lang="en-US" dirty="0" smtClean="0"/>
              <a:t>: Interfaces can also contain </a:t>
            </a:r>
            <a:r>
              <a:rPr lang="en-US" b="1" dirty="0" smtClean="0"/>
              <a:t>default</a:t>
            </a:r>
            <a:r>
              <a:rPr lang="en-US" dirty="0" smtClean="0"/>
              <a:t> and </a:t>
            </a:r>
            <a:r>
              <a:rPr lang="en-US" b="1" dirty="0" smtClean="0"/>
              <a:t>static methods</a:t>
            </a:r>
            <a:r>
              <a:rPr lang="en-US" dirty="0" smtClean="0"/>
              <a:t> with body.</a:t>
            </a:r>
          </a:p>
          <a:p>
            <a:r>
              <a:rPr lang="en-US" dirty="0" smtClean="0"/>
              <a:t>From </a:t>
            </a:r>
            <a:r>
              <a:rPr lang="en-US" b="1" dirty="0" smtClean="0"/>
              <a:t>Java 9 onwards</a:t>
            </a:r>
            <a:r>
              <a:rPr lang="en-US" dirty="0" smtClean="0"/>
              <a:t>: Interfaces can have </a:t>
            </a:r>
            <a:r>
              <a:rPr lang="en-US" b="1" dirty="0" smtClean="0"/>
              <a:t>private methods</a:t>
            </a:r>
            <a:r>
              <a:rPr lang="en-US" dirty="0" smtClean="0"/>
              <a:t> as well.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71612"/>
            <a:ext cx="8229600" cy="4525963"/>
          </a:xfrm>
        </p:spPr>
        <p:txBody>
          <a:bodyPr/>
          <a:lstStyle/>
          <a:p>
            <a:r>
              <a:rPr lang="en-US" b="1" dirty="0" smtClean="0"/>
              <a:t>Declaration of Interface</a:t>
            </a:r>
          </a:p>
          <a:p>
            <a:r>
              <a:rPr lang="en-US" dirty="0" smtClean="0"/>
              <a:t>In Java, an interface is declared using the </a:t>
            </a:r>
            <a:r>
              <a:rPr lang="en-US" b="1" dirty="0" smtClean="0"/>
              <a:t>interface</a:t>
            </a:r>
            <a:r>
              <a:rPr lang="en-US" dirty="0" smtClean="0"/>
              <a:t> keyword.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Interface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714488"/>
            <a:ext cx="6000792" cy="3201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of Interface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Key Notes about Declaration</a:t>
            </a:r>
            <a:endParaRPr lang="en-US" dirty="0" smtClean="0"/>
          </a:p>
          <a:p>
            <a:r>
              <a:rPr lang="en-US" dirty="0" smtClean="0"/>
              <a:t>No constructor allowed.</a:t>
            </a:r>
          </a:p>
          <a:p>
            <a:r>
              <a:rPr lang="en-US" dirty="0" smtClean="0"/>
              <a:t>Methods are </a:t>
            </a:r>
            <a:r>
              <a:rPr lang="en-US" b="1" dirty="0" smtClean="0"/>
              <a:t>abstract by default</a:t>
            </a:r>
            <a:r>
              <a:rPr lang="en-US" dirty="0" smtClean="0"/>
              <a:t> (unless declared default or static).</a:t>
            </a:r>
          </a:p>
          <a:p>
            <a:r>
              <a:rPr lang="en-US" dirty="0" smtClean="0"/>
              <a:t>Variables are </a:t>
            </a:r>
            <a:r>
              <a:rPr lang="en-US" b="1" dirty="0" smtClean="0"/>
              <a:t>public static final by default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Interface cannot be instantiated (no new </a:t>
            </a:r>
            <a:r>
              <a:rPr lang="en-US" dirty="0" err="1" smtClean="0"/>
              <a:t>InterfaceName</a:t>
            </a:r>
            <a:r>
              <a:rPr lang="en-US" dirty="0" smtClean="0"/>
              <a:t>()), only implemented.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of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Once an </a:t>
            </a:r>
            <a:r>
              <a:rPr lang="en-US" b="1" dirty="0" smtClean="0"/>
              <a:t>interface</a:t>
            </a:r>
            <a:r>
              <a:rPr lang="en-US" dirty="0" smtClean="0"/>
              <a:t> is declared, a </a:t>
            </a:r>
            <a:r>
              <a:rPr lang="en-US" b="1" dirty="0" smtClean="0"/>
              <a:t>class must provide definitions (implementations)</a:t>
            </a:r>
            <a:r>
              <a:rPr lang="en-US" dirty="0" smtClean="0"/>
              <a:t> for all abstract methods of that interface using the </a:t>
            </a:r>
            <a:r>
              <a:rPr lang="en-US" b="1" dirty="0" smtClean="0"/>
              <a:t>implements</a:t>
            </a:r>
            <a:r>
              <a:rPr lang="en-US" dirty="0" smtClean="0"/>
              <a:t> keyword.</a:t>
            </a:r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of Interface</a:t>
            </a:r>
            <a:endParaRPr lang="en-US" dirty="0"/>
          </a:p>
        </p:txBody>
      </p:sp>
      <p:pic>
        <p:nvPicPr>
          <p:cNvPr id="1105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143116"/>
            <a:ext cx="5915415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of Interface</a:t>
            </a:r>
            <a:endParaRPr lang="en-US" dirty="0"/>
          </a:p>
        </p:txBody>
      </p:sp>
      <p:pic>
        <p:nvPicPr>
          <p:cNvPr id="1116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285861"/>
            <a:ext cx="7143800" cy="4434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of Interface</a:t>
            </a:r>
            <a:endParaRPr lang="en-US" dirty="0"/>
          </a:p>
        </p:txBody>
      </p:sp>
      <p:pic>
        <p:nvPicPr>
          <p:cNvPr id="1126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285861"/>
            <a:ext cx="7215238" cy="4287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 does </a:t>
            </a:r>
            <a:r>
              <a:rPr lang="en-US" b="1" dirty="0" smtClean="0"/>
              <a:t>not</a:t>
            </a:r>
            <a:r>
              <a:rPr lang="en-US" dirty="0" smtClean="0"/>
              <a:t> support </a:t>
            </a:r>
            <a:r>
              <a:rPr lang="en-US" b="1" dirty="0" smtClean="0"/>
              <a:t>multiple inheritance with classes</a:t>
            </a:r>
            <a:r>
              <a:rPr lang="en-US" dirty="0" smtClean="0"/>
              <a:t> (a class can’t extend two classes),</a:t>
            </a:r>
            <a:br>
              <a:rPr lang="en-US" dirty="0" smtClean="0"/>
            </a:br>
            <a:r>
              <a:rPr lang="en-US" dirty="0" smtClean="0"/>
              <a:t>but it </a:t>
            </a:r>
            <a:r>
              <a:rPr lang="en-US" b="1" dirty="0" smtClean="0"/>
              <a:t>does support multiple inheritance using interfaces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Interfaces</a:t>
            </a:r>
            <a:endParaRPr lang="en-US" dirty="0"/>
          </a:p>
        </p:txBody>
      </p:sp>
      <p:pic>
        <p:nvPicPr>
          <p:cNvPr id="1136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00174"/>
            <a:ext cx="6715171" cy="4339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Interfaces</a:t>
            </a:r>
            <a:endParaRPr lang="en-US" dirty="0"/>
          </a:p>
        </p:txBody>
      </p:sp>
      <p:pic>
        <p:nvPicPr>
          <p:cNvPr id="1146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428737"/>
            <a:ext cx="5214973" cy="430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nested interface</a:t>
            </a:r>
            <a:r>
              <a:rPr lang="en-US" dirty="0" smtClean="0"/>
              <a:t> is an interface declared </a:t>
            </a:r>
            <a:r>
              <a:rPr lang="en-US" b="1" dirty="0" smtClean="0"/>
              <a:t>inside a class or another interface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It is also called an </a:t>
            </a:r>
            <a:r>
              <a:rPr lang="en-US" b="1" dirty="0" smtClean="0"/>
              <a:t>inner interface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Rules</a:t>
            </a:r>
          </a:p>
          <a:p>
            <a:r>
              <a:rPr lang="en-US" dirty="0" smtClean="0"/>
              <a:t>An interface can be declared inside a </a:t>
            </a:r>
            <a:r>
              <a:rPr lang="en-US" b="1" dirty="0" smtClean="0"/>
              <a:t>class</a:t>
            </a:r>
            <a:r>
              <a:rPr lang="en-US" dirty="0" smtClean="0"/>
              <a:t> or </a:t>
            </a:r>
            <a:r>
              <a:rPr lang="en-US" b="1" dirty="0" smtClean="0"/>
              <a:t>another interface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nested inside a </a:t>
            </a:r>
            <a:r>
              <a:rPr lang="en-US" b="1" dirty="0" smtClean="0"/>
              <a:t>class</a:t>
            </a:r>
            <a:r>
              <a:rPr lang="en-US" dirty="0" smtClean="0"/>
              <a:t>, it can be declared public, private, or protected.</a:t>
            </a:r>
          </a:p>
          <a:p>
            <a:r>
              <a:rPr lang="en-US" dirty="0" smtClean="0"/>
              <a:t>If nested inside an </a:t>
            </a:r>
            <a:r>
              <a:rPr lang="en-US" b="1" dirty="0" smtClean="0"/>
              <a:t>interface</a:t>
            </a:r>
            <a:r>
              <a:rPr lang="en-US" dirty="0" smtClean="0"/>
              <a:t>, it is always public (implicitly).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Interfaces</a:t>
            </a:r>
            <a:endParaRPr lang="en-US" dirty="0"/>
          </a:p>
        </p:txBody>
      </p:sp>
      <p:pic>
        <p:nvPicPr>
          <p:cNvPr id="1157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071546"/>
            <a:ext cx="7286675" cy="505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of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like classes, </a:t>
            </a:r>
            <a:r>
              <a:rPr lang="en-US" b="1" dirty="0" smtClean="0"/>
              <a:t>interfaces in Java can also inherit from other interfaces</a:t>
            </a:r>
            <a:r>
              <a:rPr lang="en-US" dirty="0" smtClean="0"/>
              <a:t> using the </a:t>
            </a:r>
            <a:r>
              <a:rPr lang="en-US" b="1" dirty="0" smtClean="0"/>
              <a:t>extends</a:t>
            </a:r>
            <a:r>
              <a:rPr lang="en-US" dirty="0" smtClean="0"/>
              <a:t> keyword.</a:t>
            </a:r>
            <a:br>
              <a:rPr lang="en-US" dirty="0" smtClean="0"/>
            </a:br>
            <a:r>
              <a:rPr lang="en-US" dirty="0" smtClean="0"/>
              <a:t>But unlike classes, an interface can </a:t>
            </a:r>
            <a:r>
              <a:rPr lang="en-US" b="1" dirty="0" smtClean="0"/>
              <a:t>extend multiple interfaces</a:t>
            </a:r>
            <a:r>
              <a:rPr lang="en-US" dirty="0" smtClean="0"/>
              <a:t> at the same time (supports multiple inheritance).</a:t>
            </a:r>
            <a:endParaRPr lang="en-US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of Interfaces</a:t>
            </a:r>
            <a:endParaRPr lang="en-US" dirty="0"/>
          </a:p>
        </p:txBody>
      </p:sp>
      <p:pic>
        <p:nvPicPr>
          <p:cNvPr id="1167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643050"/>
            <a:ext cx="6072229" cy="3020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of Interfaces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InterfaceB</a:t>
            </a:r>
            <a:r>
              <a:rPr lang="en-US" dirty="0" smtClean="0"/>
              <a:t> inherits from </a:t>
            </a:r>
            <a:r>
              <a:rPr lang="en-US" dirty="0" err="1" smtClean="0"/>
              <a:t>InterfaceA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Any class that implements </a:t>
            </a:r>
            <a:r>
              <a:rPr lang="en-US" dirty="0" err="1" smtClean="0"/>
              <a:t>InterfaceB</a:t>
            </a:r>
            <a:r>
              <a:rPr lang="en-US" dirty="0" smtClean="0"/>
              <a:t> must provide implementation for both </a:t>
            </a:r>
            <a:r>
              <a:rPr lang="en-US" dirty="0" err="1" smtClean="0"/>
              <a:t>methodA</a:t>
            </a:r>
            <a:r>
              <a:rPr lang="en-US" dirty="0" smtClean="0"/>
              <a:t>() and </a:t>
            </a:r>
            <a:r>
              <a:rPr lang="en-US" dirty="0" err="1" smtClean="0"/>
              <a:t>methodB</a:t>
            </a:r>
            <a:r>
              <a:rPr lang="en-US" dirty="0" smtClean="0"/>
              <a:t>().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</a:t>
            </a:r>
            <a:r>
              <a:rPr lang="en-US" smtClean="0"/>
              <a:t>Methods </a:t>
            </a:r>
            <a:r>
              <a:rPr lang="en-US" smtClean="0"/>
              <a:t>in </a:t>
            </a:r>
            <a:r>
              <a:rPr lang="en-US" dirty="0" smtClean="0"/>
              <a:t>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Before Java 8, all methods in an interface were </a:t>
            </a:r>
            <a:r>
              <a:rPr lang="en-US" b="1" dirty="0" smtClean="0"/>
              <a:t>abstract</a:t>
            </a:r>
            <a:r>
              <a:rPr lang="en-US" dirty="0" smtClean="0"/>
              <a:t> (no body).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b="1" dirty="0" smtClean="0"/>
              <a:t>Java 8 onwards</a:t>
            </a:r>
            <a:r>
              <a:rPr lang="en-US" dirty="0" smtClean="0"/>
              <a:t>, interfaces can also have </a:t>
            </a:r>
            <a:r>
              <a:rPr lang="en-US" b="1" dirty="0" smtClean="0"/>
              <a:t>default methods</a:t>
            </a:r>
            <a:r>
              <a:rPr lang="en-US" dirty="0" smtClean="0"/>
              <a:t> — methods with a </a:t>
            </a:r>
            <a:r>
              <a:rPr lang="en-US" b="1" dirty="0" smtClean="0"/>
              <a:t>body</a:t>
            </a:r>
            <a:r>
              <a:rPr lang="en-US" dirty="0" smtClean="0"/>
              <a:t> (implementation).</a:t>
            </a:r>
            <a:endParaRPr lang="en-US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Methods m Interfaces</a:t>
            </a:r>
            <a:endParaRPr lang="en-US" dirty="0"/>
          </a:p>
        </p:txBody>
      </p:sp>
      <p:pic>
        <p:nvPicPr>
          <p:cNvPr id="1239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714488"/>
            <a:ext cx="6572296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Methods in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Before Java 8, interfaces could only have </a:t>
            </a:r>
            <a:r>
              <a:rPr lang="en-US" b="1" dirty="0" smtClean="0"/>
              <a:t>abstract methods</a:t>
            </a:r>
            <a:r>
              <a:rPr lang="en-US" dirty="0" smtClean="0"/>
              <a:t> (and constants).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b="1" dirty="0" smtClean="0"/>
              <a:t>Java 8 onwards</a:t>
            </a:r>
            <a:r>
              <a:rPr lang="en-US" dirty="0" smtClean="0"/>
              <a:t>, interfaces can also have </a:t>
            </a:r>
            <a:r>
              <a:rPr lang="en-US" b="1" dirty="0" smtClean="0"/>
              <a:t>static methods</a:t>
            </a:r>
            <a:r>
              <a:rPr lang="en-US" dirty="0" smtClean="0"/>
              <a:t> — methods with a body that belong to the </a:t>
            </a:r>
            <a:r>
              <a:rPr lang="en-US" b="1" dirty="0" smtClean="0"/>
              <a:t>interface itself</a:t>
            </a:r>
            <a:r>
              <a:rPr lang="en-US" dirty="0" smtClean="0"/>
              <a:t>, not to the implementing classes.</a:t>
            </a:r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Methods in Interface</a:t>
            </a:r>
            <a:endParaRPr lang="en-US" dirty="0"/>
          </a:p>
        </p:txBody>
      </p:sp>
      <p:pic>
        <p:nvPicPr>
          <p:cNvPr id="1249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1142984"/>
            <a:ext cx="7143800" cy="465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Functional Interface</a:t>
            </a:r>
            <a:r>
              <a:rPr lang="en-US" dirty="0" smtClean="0"/>
              <a:t> is an interface that contains </a:t>
            </a:r>
            <a:r>
              <a:rPr lang="en-US" b="1" dirty="0" smtClean="0"/>
              <a:t>exactly one abstract method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can have any number of </a:t>
            </a:r>
            <a:r>
              <a:rPr lang="en-US" b="1" dirty="0" smtClean="0"/>
              <a:t>default</a:t>
            </a:r>
            <a:r>
              <a:rPr lang="en-US" dirty="0" smtClean="0"/>
              <a:t> and </a:t>
            </a:r>
            <a:r>
              <a:rPr lang="en-US" b="1" dirty="0" smtClean="0"/>
              <a:t>static methods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Marked with the </a:t>
            </a:r>
            <a:r>
              <a:rPr lang="en-US" b="1" dirty="0" smtClean="0"/>
              <a:t>@</a:t>
            </a:r>
            <a:r>
              <a:rPr lang="en-US" b="1" dirty="0" err="1" smtClean="0"/>
              <a:t>FunctionalInterface</a:t>
            </a:r>
            <a:r>
              <a:rPr lang="en-US" b="1" dirty="0" smtClean="0"/>
              <a:t> annotation</a:t>
            </a:r>
            <a:r>
              <a:rPr lang="en-US" dirty="0" smtClean="0"/>
              <a:t> (optional, but recommended).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Interfaces</a:t>
            </a:r>
            <a:endParaRPr lang="en-US" dirty="0"/>
          </a:p>
        </p:txBody>
      </p:sp>
      <p:pic>
        <p:nvPicPr>
          <p:cNvPr id="1259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85860"/>
            <a:ext cx="7286675" cy="5000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/>
              <a:t>annotation</a:t>
            </a:r>
            <a:r>
              <a:rPr lang="en-US" dirty="0" smtClean="0"/>
              <a:t> is a special kind of </a:t>
            </a:r>
            <a:r>
              <a:rPr lang="en-US" b="1" dirty="0" smtClean="0"/>
              <a:t>metadata</a:t>
            </a:r>
            <a:r>
              <a:rPr lang="en-US" dirty="0" smtClean="0"/>
              <a:t> (information) that provides data about a program but is </a:t>
            </a:r>
            <a:r>
              <a:rPr lang="en-US" b="1" dirty="0" smtClean="0"/>
              <a:t>not part of the program logic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They are used by </a:t>
            </a:r>
            <a:r>
              <a:rPr lang="en-US" b="1" dirty="0" smtClean="0"/>
              <a:t>compiler</a:t>
            </a:r>
            <a:r>
              <a:rPr lang="en-US" dirty="0" smtClean="0"/>
              <a:t>, </a:t>
            </a:r>
            <a:r>
              <a:rPr lang="en-US" b="1" dirty="0" smtClean="0"/>
              <a:t>tools</a:t>
            </a:r>
            <a:r>
              <a:rPr lang="en-US" dirty="0" smtClean="0"/>
              <a:t>, or </a:t>
            </a:r>
            <a:r>
              <a:rPr lang="en-US" b="1" dirty="0" smtClean="0"/>
              <a:t>runtime environments</a:t>
            </a:r>
            <a:r>
              <a:rPr lang="en-US" dirty="0" smtClean="0"/>
              <a:t> to understand additional instructions about the code.</a:t>
            </a:r>
          </a:p>
          <a:p>
            <a:r>
              <a:rPr lang="en-US" dirty="0" smtClean="0"/>
              <a:t>Introduced in </a:t>
            </a:r>
            <a:r>
              <a:rPr lang="en-US" b="1" dirty="0" smtClean="0"/>
              <a:t>Java 5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Defined using the symbol </a:t>
            </a:r>
            <a:r>
              <a:rPr lang="en-US" b="1" dirty="0" smtClean="0"/>
              <a:t>@</a:t>
            </a:r>
            <a:r>
              <a:rPr lang="en-US" dirty="0" smtClean="0"/>
              <a:t> before the annotation name.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Built-in Annotations (Predefined)</a:t>
            </a:r>
          </a:p>
          <a:p>
            <a:r>
              <a:rPr lang="en-US" dirty="0" smtClean="0"/>
              <a:t>These are provided by Java itself.</a:t>
            </a:r>
          </a:p>
          <a:p>
            <a:r>
              <a:rPr lang="en-US" b="1" dirty="0" smtClean="0"/>
              <a:t>@Override</a:t>
            </a:r>
            <a:r>
              <a:rPr lang="en-US" dirty="0" smtClean="0"/>
              <a:t> → Checks if a method is actually overriding a parent class method.</a:t>
            </a:r>
          </a:p>
          <a:p>
            <a:r>
              <a:rPr lang="en-US" b="1" dirty="0" smtClean="0"/>
              <a:t>@Deprecated</a:t>
            </a:r>
            <a:r>
              <a:rPr lang="en-US" dirty="0" smtClean="0"/>
              <a:t> → Marks method/class as deprecated (not recommended to use).</a:t>
            </a:r>
          </a:p>
          <a:p>
            <a:r>
              <a:rPr lang="en-US" b="1" dirty="0" smtClean="0"/>
              <a:t>@</a:t>
            </a:r>
            <a:r>
              <a:rPr lang="en-US" b="1" dirty="0" err="1" smtClean="0"/>
              <a:t>SuppressWarnings</a:t>
            </a:r>
            <a:r>
              <a:rPr lang="en-US" dirty="0" smtClean="0"/>
              <a:t> → Instructs compiler to ignore specific warnings.</a:t>
            </a:r>
            <a:endParaRPr lang="en-US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3804</Words>
  <Application>Microsoft Office PowerPoint</Application>
  <PresentationFormat>On-screen Show (4:3)</PresentationFormat>
  <Paragraphs>507</Paragraphs>
  <Slides>116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17" baseType="lpstr">
      <vt:lpstr>Office Theme</vt:lpstr>
      <vt:lpstr>Unit-3</vt:lpstr>
      <vt:lpstr>Declaration and Initialization of Arrays</vt:lpstr>
      <vt:lpstr>examples</vt:lpstr>
      <vt:lpstr>Initialization of an Array</vt:lpstr>
      <vt:lpstr>(A) Separate Declaration and Initialization</vt:lpstr>
      <vt:lpstr>(B) Declaration with Initialization (Static Initialization)</vt:lpstr>
      <vt:lpstr>2.Storage of Array in Computer Memory</vt:lpstr>
      <vt:lpstr>Example: </vt:lpstr>
      <vt:lpstr>3.Accessing Elements of Arrays</vt:lpstr>
      <vt:lpstr>Syntax </vt:lpstr>
      <vt:lpstr>Example </vt:lpstr>
      <vt:lpstr>4.Operations on Array Elements</vt:lpstr>
      <vt:lpstr>5.Assigning Array to Another Array</vt:lpstr>
      <vt:lpstr>Example</vt:lpstr>
      <vt:lpstr>Explanation</vt:lpstr>
      <vt:lpstr>6. Dynamic Change of Array Size</vt:lpstr>
      <vt:lpstr>Example: Manually increasing array size</vt:lpstr>
      <vt:lpstr>Example</vt:lpstr>
      <vt:lpstr>7.Sorting of Arrays</vt:lpstr>
      <vt:lpstr>Types of Sorting </vt:lpstr>
      <vt:lpstr>1. Using Arrays.sort()</vt:lpstr>
      <vt:lpstr>Manual Sorting (Algorithms) </vt:lpstr>
      <vt:lpstr>8.Search for Values in Arrays</vt:lpstr>
      <vt:lpstr>1. Linear Search</vt:lpstr>
      <vt:lpstr>2. Binary Search </vt:lpstr>
      <vt:lpstr>9.Class Arrays</vt:lpstr>
      <vt:lpstr>Features of Arrays class: </vt:lpstr>
      <vt:lpstr>Commonly Used Methods in Arrays Class:</vt:lpstr>
      <vt:lpstr>10. Two-dimensiona1 Arrays</vt:lpstr>
      <vt:lpstr>Declaration of 2D Array</vt:lpstr>
      <vt:lpstr>1.Initialization of 2D Array</vt:lpstr>
      <vt:lpstr>2. Dynamic Initialization</vt:lpstr>
      <vt:lpstr>Accessing Elements in 2D Array</vt:lpstr>
      <vt:lpstr>Traversing a 2D Array</vt:lpstr>
      <vt:lpstr>Example Program</vt:lpstr>
      <vt:lpstr>11. Arrays of Varying Lengths</vt:lpstr>
      <vt:lpstr>Declaration of Jagged Array</vt:lpstr>
      <vt:lpstr>Initialization of Jagged Array</vt:lpstr>
      <vt:lpstr>Example: Arrays of Varying Lengths</vt:lpstr>
      <vt:lpstr>Example</vt:lpstr>
      <vt:lpstr>12. Three-dimensional Arrays</vt:lpstr>
      <vt:lpstr>Declaration of 3D Arrays</vt:lpstr>
      <vt:lpstr>Example: Declaring and Initializing</vt:lpstr>
      <vt:lpstr>example</vt:lpstr>
      <vt:lpstr>13.Arrays as Vectors </vt:lpstr>
      <vt:lpstr>Example: Array as Vector</vt:lpstr>
      <vt:lpstr>explanation</vt:lpstr>
      <vt:lpstr>1.Inheritance </vt:lpstr>
      <vt:lpstr>Uses</vt:lpstr>
      <vt:lpstr>Process of Inheritance in Java</vt:lpstr>
      <vt:lpstr>Process of Inheritance in Java</vt:lpstr>
      <vt:lpstr>Process of Inheritance in Java</vt:lpstr>
      <vt:lpstr>2.Process of Inheritance in Java</vt:lpstr>
      <vt:lpstr>Process of Inheritance in Java</vt:lpstr>
      <vt:lpstr>Process of Inheritance in Java</vt:lpstr>
      <vt:lpstr>Process of Inheritance in Java</vt:lpstr>
      <vt:lpstr>Process of Inheritance in Java</vt:lpstr>
      <vt:lpstr>Process of Inheritance in Java</vt:lpstr>
      <vt:lpstr>Process of Inheritance in Java</vt:lpstr>
      <vt:lpstr>3.Types of Inheritance in Java</vt:lpstr>
      <vt:lpstr>Types of Inheritance in Java</vt:lpstr>
      <vt:lpstr>Single Inheritance</vt:lpstr>
      <vt:lpstr>Multilevel Inheritance </vt:lpstr>
      <vt:lpstr>Hierarchical Inheritance</vt:lpstr>
      <vt:lpstr>Multiple Inheritance (via Interfaces only) </vt:lpstr>
      <vt:lpstr>4.Universal Super Class-Object Class</vt:lpstr>
      <vt:lpstr>Universal Super Class-Object Class</vt:lpstr>
      <vt:lpstr>Universal Super Class-Object Class</vt:lpstr>
      <vt:lpstr>Universal Super Class-Object Class</vt:lpstr>
      <vt:lpstr>Universal Super Class-Object Class</vt:lpstr>
      <vt:lpstr>Universal Super Class-Object Class</vt:lpstr>
      <vt:lpstr>5. Inhibiting Inheritance of Class Using Final</vt:lpstr>
      <vt:lpstr>Inhibiting Inheritance of Class Using Final</vt:lpstr>
      <vt:lpstr>Why Use Final Classes? </vt:lpstr>
      <vt:lpstr>6. Access Control and Inheritance</vt:lpstr>
      <vt:lpstr>Example: Access Control with Inheritance</vt:lpstr>
      <vt:lpstr>Example: Access Control with Inheritance</vt:lpstr>
      <vt:lpstr>Example: Access Control with Inheritance</vt:lpstr>
      <vt:lpstr>Example: Access Control with Inheritance</vt:lpstr>
      <vt:lpstr>7. Multilevel Inheritance</vt:lpstr>
      <vt:lpstr>8. Application of Keyword Super</vt:lpstr>
      <vt:lpstr>8. Application of Keyword Super</vt:lpstr>
      <vt:lpstr>9. Constructor Method and Inheritance</vt:lpstr>
      <vt:lpstr>Constructor Method and Inheritance</vt:lpstr>
      <vt:lpstr>10. Dynamic Method Dispatch</vt:lpstr>
      <vt:lpstr>10. Dynamic Method Dispatch</vt:lpstr>
      <vt:lpstr>11. Abstract Classes</vt:lpstr>
      <vt:lpstr>Abstract Classes</vt:lpstr>
      <vt:lpstr>12. Interfaces and Inheritance</vt:lpstr>
      <vt:lpstr>12. Interfaces and Inheritance</vt:lpstr>
      <vt:lpstr>Interface introduction</vt:lpstr>
      <vt:lpstr>Interface introduction</vt:lpstr>
      <vt:lpstr>Declaration of Interface</vt:lpstr>
      <vt:lpstr>Declaration of Interface</vt:lpstr>
      <vt:lpstr>Declaration of Interface</vt:lpstr>
      <vt:lpstr>Implementation of Interface</vt:lpstr>
      <vt:lpstr>Implementation of Interface</vt:lpstr>
      <vt:lpstr>Implementation of Interface</vt:lpstr>
      <vt:lpstr>Implementation of Interface</vt:lpstr>
      <vt:lpstr>Multiple Interfaces</vt:lpstr>
      <vt:lpstr>Multiple Interfaces</vt:lpstr>
      <vt:lpstr>Multiple Interfaces</vt:lpstr>
      <vt:lpstr>Nested Interfaces</vt:lpstr>
      <vt:lpstr>Nested Interfaces</vt:lpstr>
      <vt:lpstr>Nested Interfaces</vt:lpstr>
      <vt:lpstr>Inheritance of Interfaces</vt:lpstr>
      <vt:lpstr>Inheritance of Interfaces</vt:lpstr>
      <vt:lpstr>Inheritance of Interfaces</vt:lpstr>
      <vt:lpstr>Default Methods in Interfaces</vt:lpstr>
      <vt:lpstr>Default Methods m Interfaces</vt:lpstr>
      <vt:lpstr>Static Methods in Interface</vt:lpstr>
      <vt:lpstr>Static Methods in Interface</vt:lpstr>
      <vt:lpstr>Functional Interfaces</vt:lpstr>
      <vt:lpstr>Functional Interfaces</vt:lpstr>
      <vt:lpstr>Annotations</vt:lpstr>
      <vt:lpstr>Annotations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</dc:title>
  <dc:creator>USER</dc:creator>
  <cp:lastModifiedBy>USER</cp:lastModifiedBy>
  <cp:revision>206</cp:revision>
  <dcterms:created xsi:type="dcterms:W3CDTF">2025-08-16T06:30:43Z</dcterms:created>
  <dcterms:modified xsi:type="dcterms:W3CDTF">2025-09-24T07:24:13Z</dcterms:modified>
</cp:coreProperties>
</file>