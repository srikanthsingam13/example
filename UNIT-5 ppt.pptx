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82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368" autoAdjust="0"/>
    <p:restoredTop sz="94660"/>
  </p:normalViewPr>
  <p:slideViewPr>
    <p:cSldViewPr>
      <p:cViewPr>
        <p:scale>
          <a:sx n="100" d="100"/>
          <a:sy n="100" d="100"/>
        </p:scale>
        <p:origin x="-52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6C4D69-127A-4186-9C24-A6749AD447CB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0C81059-6D53-44B9-83B4-3F4EBC2B5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6C4D69-127A-4186-9C24-A6749AD447CB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0C81059-6D53-44B9-83B4-3F4EBC2B5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6C4D69-127A-4186-9C24-A6749AD447CB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0C81059-6D53-44B9-83B4-3F4EBC2B5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6C4D69-127A-4186-9C24-A6749AD447CB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0C81059-6D53-44B9-83B4-3F4EBC2B5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6C4D69-127A-4186-9C24-A6749AD447CB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0C81059-6D53-44B9-83B4-3F4EBC2B5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6C4D69-127A-4186-9C24-A6749AD447CB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0C81059-6D53-44B9-83B4-3F4EBC2B5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6C4D69-127A-4186-9C24-A6749AD447CB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0C81059-6D53-44B9-83B4-3F4EBC2B5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6C4D69-127A-4186-9C24-A6749AD447CB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0C81059-6D53-44B9-83B4-3F4EBC2B5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6C4D69-127A-4186-9C24-A6749AD447CB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0C81059-6D53-44B9-83B4-3F4EBC2B5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6C4D69-127A-4186-9C24-A6749AD447CB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0C81059-6D53-44B9-83B4-3F4EBC2B5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6C4D69-127A-4186-9C24-A6749AD447CB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0C81059-6D53-44B9-83B4-3F4EBC2B5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3" descr="idM5cEJz_6_logos.pn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7215206" y="6000768"/>
            <a:ext cx="1543032" cy="5835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Unit-5</a:t>
            </a:r>
            <a:br>
              <a:rPr lang="en-IN" dirty="0" smtClean="0"/>
            </a:br>
            <a:r>
              <a:rPr lang="en-US" b="1" dirty="0" smtClean="0"/>
              <a:t>String Handling in Java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Oops through java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Introduction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Strings in Java are objects that represent sequences of characters.</a:t>
            </a:r>
          </a:p>
          <a:p>
            <a:pPr lvl="0"/>
            <a:r>
              <a:rPr lang="en-US" dirty="0" err="1" smtClean="0"/>
              <a:t>java.lang.String</a:t>
            </a:r>
            <a:r>
              <a:rPr lang="en-US" dirty="0" smtClean="0"/>
              <a:t>, </a:t>
            </a:r>
            <a:r>
              <a:rPr lang="en-US" dirty="0" err="1" smtClean="0"/>
              <a:t>java.lang.StringBuffer</a:t>
            </a:r>
            <a:r>
              <a:rPr lang="en-US" dirty="0" smtClean="0"/>
              <a:t>, and </a:t>
            </a:r>
            <a:r>
              <a:rPr lang="en-US" dirty="0" err="1" smtClean="0"/>
              <a:t>java.lang.StringBuilder</a:t>
            </a:r>
            <a:r>
              <a:rPr lang="en-US" dirty="0" smtClean="0"/>
              <a:t> are the main classes.</a:t>
            </a:r>
          </a:p>
          <a:p>
            <a:pPr lvl="0"/>
            <a:r>
              <a:rPr lang="en-US" dirty="0" err="1" smtClean="0"/>
              <a:t>java.lang.CharSequence</a:t>
            </a:r>
            <a:r>
              <a:rPr lang="en-US" dirty="0" smtClean="0"/>
              <a:t> is the interface implemented by these classes.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CharSequence</a:t>
            </a:r>
            <a:r>
              <a:rPr lang="en-US" b="1" dirty="0" smtClean="0"/>
              <a:t> Interface</a:t>
            </a:r>
            <a:r>
              <a:rPr lang="en-US" sz="3600" dirty="0" smtClean="0"/>
              <a:t/>
            </a:r>
            <a:br>
              <a:rPr lang="en-US" sz="3600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800" dirty="0" smtClean="0"/>
              <a:t>Parent interface of String, </a:t>
            </a:r>
            <a:r>
              <a:rPr lang="en-US" sz="2800" dirty="0" err="1" smtClean="0"/>
              <a:t>StringBuffer</a:t>
            </a:r>
            <a:r>
              <a:rPr lang="en-US" sz="2800" dirty="0" smtClean="0"/>
              <a:t>, </a:t>
            </a:r>
            <a:r>
              <a:rPr lang="en-US" sz="2800" dirty="0" err="1" smtClean="0"/>
              <a:t>StringBuilder</a:t>
            </a:r>
            <a:r>
              <a:rPr lang="en-US" sz="2800" dirty="0" smtClean="0"/>
              <a:t>.</a:t>
            </a:r>
          </a:p>
          <a:p>
            <a:pPr lvl="0"/>
            <a:r>
              <a:rPr lang="en-US" sz="2800" dirty="0" smtClean="0"/>
              <a:t>Provides basic methods:</a:t>
            </a:r>
          </a:p>
          <a:p>
            <a:pPr lvl="1"/>
            <a:r>
              <a:rPr lang="en-US" sz="1800" dirty="0" smtClean="0"/>
              <a:t>length()</a:t>
            </a:r>
            <a:r>
              <a:rPr lang="en-US" dirty="0" smtClean="0"/>
              <a:t> → returns number of characters.</a:t>
            </a:r>
            <a:endParaRPr lang="en-US" sz="2400" dirty="0" smtClean="0"/>
          </a:p>
          <a:p>
            <a:pPr lvl="1"/>
            <a:r>
              <a:rPr lang="en-US" sz="1800" dirty="0" err="1" smtClean="0"/>
              <a:t>charAt</a:t>
            </a:r>
            <a:r>
              <a:rPr lang="en-US" sz="1800" dirty="0" smtClean="0"/>
              <a:t>(</a:t>
            </a:r>
            <a:r>
              <a:rPr lang="en-US" sz="1800" dirty="0" err="1" smtClean="0"/>
              <a:t>int</a:t>
            </a:r>
            <a:r>
              <a:rPr lang="en-US" sz="1800" dirty="0" smtClean="0"/>
              <a:t> index)</a:t>
            </a:r>
            <a:r>
              <a:rPr lang="en-US" dirty="0" smtClean="0"/>
              <a:t> → returns character at position.</a:t>
            </a:r>
            <a:endParaRPr lang="en-US" sz="2400" dirty="0" smtClean="0"/>
          </a:p>
          <a:p>
            <a:pPr lvl="1"/>
            <a:r>
              <a:rPr lang="en-US" dirty="0" err="1" smtClean="0"/>
              <a:t>subSequence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 start, </a:t>
            </a:r>
            <a:r>
              <a:rPr lang="en-US" dirty="0" err="1" smtClean="0"/>
              <a:t>int</a:t>
            </a:r>
            <a:r>
              <a:rPr lang="en-US" dirty="0" smtClean="0"/>
              <a:t> end)</a:t>
            </a:r>
            <a:r>
              <a:rPr lang="en-US" sz="4000" dirty="0" smtClean="0"/>
              <a:t> → </a:t>
            </a:r>
            <a:r>
              <a:rPr lang="en-US" dirty="0" smtClean="0"/>
              <a:t>returns part of sequence.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String Class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571612"/>
            <a:ext cx="8229600" cy="4525963"/>
          </a:xfrm>
        </p:spPr>
        <p:txBody>
          <a:bodyPr/>
          <a:lstStyle/>
          <a:p>
            <a:pPr lvl="0"/>
            <a:r>
              <a:rPr lang="en-US" b="1" dirty="0" smtClean="0"/>
              <a:t>Immutable</a:t>
            </a:r>
            <a:r>
              <a:rPr lang="en-US" dirty="0" smtClean="0"/>
              <a:t>: Once created, cannot be changed.</a:t>
            </a:r>
          </a:p>
          <a:p>
            <a:pPr lvl="0"/>
            <a:r>
              <a:rPr lang="en-US" dirty="0" smtClean="0"/>
              <a:t>Strings are stored in a </a:t>
            </a:r>
            <a:r>
              <a:rPr lang="en-US" b="1" dirty="0" smtClean="0"/>
              <a:t>String Constant Pool</a:t>
            </a:r>
            <a:r>
              <a:rPr lang="en-US" dirty="0" smtClean="0"/>
              <a:t> for memory efficiency.</a:t>
            </a:r>
          </a:p>
          <a:p>
            <a:r>
              <a:rPr lang="en-US" b="1" dirty="0" smtClean="0"/>
              <a:t>Constructors:</a:t>
            </a:r>
            <a:endParaRPr lang="en-US" dirty="0" smtClean="0"/>
          </a:p>
          <a:p>
            <a:pPr lvl="0"/>
            <a:r>
              <a:rPr lang="en-US" dirty="0" smtClean="0"/>
              <a:t>String s = "Hello";</a:t>
            </a:r>
          </a:p>
          <a:p>
            <a:pPr lvl="0"/>
            <a:r>
              <a:rPr lang="en-US" dirty="0" smtClean="0"/>
              <a:t>String s = new String("Hello");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Methods for Extracting Characters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err="1" smtClean="0"/>
              <a:t>charAt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 index) → Returns char at index.</a:t>
            </a:r>
          </a:p>
          <a:p>
            <a:pPr lvl="0"/>
            <a:r>
              <a:rPr lang="en-US" smtClean="0"/>
              <a:t>toCharArray</a:t>
            </a:r>
            <a:r>
              <a:rPr lang="en-US" dirty="0" smtClean="0"/>
              <a:t>() → Converts to character array.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Comparison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equals() → Compares content.</a:t>
            </a:r>
          </a:p>
          <a:p>
            <a:pPr lvl="0"/>
            <a:r>
              <a:rPr lang="en-US" dirty="0" err="1" smtClean="0"/>
              <a:t>equalsIgnoreCase</a:t>
            </a:r>
            <a:r>
              <a:rPr lang="en-US" dirty="0" smtClean="0"/>
              <a:t>() → Case-insensitive compare.</a:t>
            </a:r>
          </a:p>
          <a:p>
            <a:pPr lvl="0"/>
            <a:r>
              <a:rPr lang="en-US" dirty="0" err="1" smtClean="0"/>
              <a:t>compareTo</a:t>
            </a:r>
            <a:r>
              <a:rPr lang="en-US" dirty="0" smtClean="0"/>
              <a:t>() → Lexicographic comparison.</a:t>
            </a:r>
          </a:p>
          <a:p>
            <a:pPr lvl="0"/>
            <a:r>
              <a:rPr lang="en-US" dirty="0" smtClean="0"/>
              <a:t>== → Compares references (not values).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Modifying Strings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err="1" smtClean="0"/>
              <a:t>concat</a:t>
            </a:r>
            <a:r>
              <a:rPr lang="en-US" dirty="0" smtClean="0"/>
              <a:t>(String </a:t>
            </a:r>
            <a:r>
              <a:rPr lang="en-US" dirty="0" err="1" smtClean="0"/>
              <a:t>str</a:t>
            </a:r>
            <a:r>
              <a:rPr lang="en-US" dirty="0" smtClean="0"/>
              <a:t>) → Concatenation.</a:t>
            </a:r>
          </a:p>
          <a:p>
            <a:pPr lvl="0"/>
            <a:r>
              <a:rPr lang="en-US" dirty="0" err="1" smtClean="0"/>
              <a:t>toUpperCase</a:t>
            </a:r>
            <a:r>
              <a:rPr lang="en-US" dirty="0" smtClean="0"/>
              <a:t>(), </a:t>
            </a:r>
            <a:r>
              <a:rPr lang="en-US" dirty="0" err="1" smtClean="0"/>
              <a:t>toLowerCase</a:t>
            </a:r>
            <a:r>
              <a:rPr lang="en-US" dirty="0" smtClean="0"/>
              <a:t>() → Change case.</a:t>
            </a:r>
          </a:p>
          <a:p>
            <a:pPr lvl="0"/>
            <a:r>
              <a:rPr lang="en-US" dirty="0" smtClean="0"/>
              <a:t>trim() → Remove whitespace.</a:t>
            </a:r>
          </a:p>
          <a:p>
            <a:pPr lvl="0"/>
            <a:r>
              <a:rPr lang="en-US" dirty="0" smtClean="0"/>
              <a:t>replace(char old, char new) → Replace characters.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Searching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err="1" smtClean="0"/>
              <a:t>indexOf</a:t>
            </a:r>
            <a:r>
              <a:rPr lang="en-US" dirty="0" smtClean="0"/>
              <a:t>(String </a:t>
            </a:r>
            <a:r>
              <a:rPr lang="en-US" dirty="0" err="1" smtClean="0"/>
              <a:t>str</a:t>
            </a:r>
            <a:r>
              <a:rPr lang="en-US" dirty="0" smtClean="0"/>
              <a:t>) → First occurrence.</a:t>
            </a:r>
          </a:p>
          <a:p>
            <a:pPr lvl="0"/>
            <a:r>
              <a:rPr lang="en-US" dirty="0" err="1" smtClean="0"/>
              <a:t>lastIndexOf</a:t>
            </a:r>
            <a:r>
              <a:rPr lang="en-US" dirty="0" smtClean="0"/>
              <a:t>(String </a:t>
            </a:r>
            <a:r>
              <a:rPr lang="en-US" dirty="0" err="1" smtClean="0"/>
              <a:t>str</a:t>
            </a:r>
            <a:r>
              <a:rPr lang="en-US" dirty="0" smtClean="0"/>
              <a:t>) → Last occurrence.</a:t>
            </a:r>
          </a:p>
          <a:p>
            <a:pPr lvl="0"/>
            <a:r>
              <a:rPr lang="en-US" dirty="0" smtClean="0"/>
              <a:t>contains(</a:t>
            </a:r>
            <a:r>
              <a:rPr lang="en-US" dirty="0" err="1" smtClean="0"/>
              <a:t>CharSequence</a:t>
            </a:r>
            <a:r>
              <a:rPr lang="en-US" dirty="0" smtClean="0"/>
              <a:t> s) → Checks existence.</a:t>
            </a:r>
          </a:p>
          <a:p>
            <a:pPr lvl="0"/>
            <a:r>
              <a:rPr lang="en-US" dirty="0" err="1" smtClean="0"/>
              <a:t>startsWith</a:t>
            </a:r>
            <a:r>
              <a:rPr lang="en-US" dirty="0" smtClean="0"/>
              <a:t>(), </a:t>
            </a:r>
            <a:r>
              <a:rPr lang="en-US" dirty="0" err="1" smtClean="0"/>
              <a:t>endsWith</a:t>
            </a:r>
            <a:r>
              <a:rPr lang="en-US" dirty="0" smtClean="0"/>
              <a:t>() → Prefix/suffix check.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StringBuffer</a:t>
            </a:r>
            <a:r>
              <a:rPr lang="en-US" b="1" dirty="0" smtClean="0"/>
              <a:t> Class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800" b="1" dirty="0" smtClean="0"/>
              <a:t>Mutable</a:t>
            </a:r>
            <a:r>
              <a:rPr lang="en-US" sz="2800" dirty="0" smtClean="0"/>
              <a:t> string (modifiable).</a:t>
            </a:r>
            <a:endParaRPr lang="en-US" sz="2400" dirty="0" smtClean="0"/>
          </a:p>
          <a:p>
            <a:pPr lvl="0"/>
            <a:r>
              <a:rPr lang="en-US" sz="2800" b="1" dirty="0" smtClean="0"/>
              <a:t>Thread-safe (synchronized)</a:t>
            </a:r>
            <a:r>
              <a:rPr lang="en-US" sz="2800" dirty="0" smtClean="0"/>
              <a:t>.</a:t>
            </a:r>
            <a:endParaRPr lang="en-US" sz="2400" dirty="0" smtClean="0"/>
          </a:p>
          <a:p>
            <a:pPr lvl="0"/>
            <a:r>
              <a:rPr lang="en-US" sz="2800" dirty="0" smtClean="0"/>
              <a:t>Common methods:</a:t>
            </a:r>
            <a:endParaRPr lang="en-US" sz="2400" dirty="0" smtClean="0"/>
          </a:p>
          <a:p>
            <a:pPr lvl="1"/>
            <a:r>
              <a:rPr lang="en-US" sz="2400" dirty="0" smtClean="0"/>
              <a:t>append()</a:t>
            </a:r>
            <a:r>
              <a:rPr lang="en-US" sz="3600" dirty="0" smtClean="0"/>
              <a:t>, </a:t>
            </a:r>
            <a:r>
              <a:rPr lang="en-US" sz="2400" dirty="0" smtClean="0"/>
              <a:t>insert()</a:t>
            </a:r>
            <a:r>
              <a:rPr lang="en-US" sz="3600" dirty="0" smtClean="0"/>
              <a:t>, </a:t>
            </a:r>
            <a:r>
              <a:rPr lang="en-US" sz="2400" dirty="0" smtClean="0"/>
              <a:t>delete()</a:t>
            </a:r>
            <a:r>
              <a:rPr lang="en-US" sz="3600" dirty="0" smtClean="0"/>
              <a:t>, </a:t>
            </a:r>
            <a:r>
              <a:rPr lang="en-US" sz="2400" dirty="0" smtClean="0"/>
              <a:t>reverse()</a:t>
            </a:r>
            <a:r>
              <a:rPr lang="en-US" sz="3600" dirty="0" smtClean="0"/>
              <a:t>, </a:t>
            </a:r>
            <a:r>
              <a:rPr lang="en-US" sz="2400" dirty="0" smtClean="0"/>
              <a:t>replace()</a:t>
            </a:r>
            <a:r>
              <a:rPr lang="en-US" sz="3600" dirty="0" smtClean="0"/>
              <a:t>.</a:t>
            </a:r>
            <a:endParaRPr lang="en-US" sz="3200" dirty="0" smtClean="0"/>
          </a:p>
          <a:p>
            <a:pPr lvl="1"/>
            <a:r>
              <a:rPr lang="en-US" sz="1600" dirty="0" smtClean="0"/>
              <a:t>capacity()</a:t>
            </a:r>
            <a:r>
              <a:rPr lang="en-US" sz="2400" dirty="0" smtClean="0"/>
              <a:t> → storage size.</a:t>
            </a:r>
            <a:endParaRPr lang="en-US" sz="2000" dirty="0" smtClean="0"/>
          </a:p>
          <a:p>
            <a:pPr lvl="1"/>
            <a:r>
              <a:rPr lang="en-US" sz="2400" dirty="0" err="1" smtClean="0"/>
              <a:t>ensureCapacity</a:t>
            </a:r>
            <a:r>
              <a:rPr lang="en-US" sz="2400" dirty="0" smtClean="0"/>
              <a:t>(</a:t>
            </a:r>
            <a:r>
              <a:rPr lang="en-US" sz="2400" dirty="0" err="1" smtClean="0"/>
              <a:t>int</a:t>
            </a:r>
            <a:r>
              <a:rPr lang="en-US" sz="2400" dirty="0" smtClean="0"/>
              <a:t> min)</a:t>
            </a:r>
            <a:r>
              <a:rPr lang="en-US" sz="3600" dirty="0" smtClean="0"/>
              <a:t> →</a:t>
            </a:r>
            <a:r>
              <a:rPr lang="en-US" dirty="0" smtClean="0"/>
              <a:t> increase capacity.</a:t>
            </a:r>
            <a:endParaRPr lang="en-US" sz="3200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Multithreaded Programming in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 smtClean="0"/>
              <a:t>Introduction</a:t>
            </a:r>
            <a:endParaRPr lang="en-US" sz="2800" dirty="0" smtClean="0"/>
          </a:p>
          <a:p>
            <a:pPr lvl="0"/>
            <a:r>
              <a:rPr lang="en-US" sz="2800" b="1" dirty="0" smtClean="0"/>
              <a:t>Thread</a:t>
            </a:r>
            <a:r>
              <a:rPr lang="en-US" sz="2800" dirty="0" smtClean="0"/>
              <a:t>: Smallest unit of execution.</a:t>
            </a:r>
          </a:p>
          <a:p>
            <a:pPr lvl="0"/>
            <a:r>
              <a:rPr lang="en-US" sz="2800" b="1" dirty="0" smtClean="0"/>
              <a:t>Multithreading</a:t>
            </a:r>
            <a:r>
              <a:rPr lang="en-US" sz="2800" dirty="0" smtClean="0"/>
              <a:t>: Running multiple threads concurrently.</a:t>
            </a:r>
          </a:p>
          <a:p>
            <a:pPr lvl="0"/>
            <a:r>
              <a:rPr lang="en-US" sz="2800" b="1" dirty="0" smtClean="0"/>
              <a:t>Need</a:t>
            </a:r>
            <a:r>
              <a:rPr lang="en-US" sz="2800" dirty="0" smtClean="0"/>
              <a:t>: Efficient use of </a:t>
            </a:r>
            <a:r>
              <a:rPr lang="en-US" sz="2800" b="1" dirty="0" smtClean="0"/>
              <a:t>multi-core processors</a:t>
            </a:r>
            <a:r>
              <a:rPr lang="en-US" sz="2800" dirty="0" smtClean="0"/>
              <a:t>, improved performance, responsiveness.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Creating Threads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/>
              <a:t>Extend Thread class</a:t>
            </a:r>
            <a:endParaRPr lang="en-US" sz="2400" dirty="0" smtClean="0"/>
          </a:p>
          <a:p>
            <a:r>
              <a:rPr lang="en-US" sz="2400" dirty="0" smtClean="0"/>
              <a:t>class </a:t>
            </a:r>
            <a:r>
              <a:rPr lang="en-US" sz="2400" dirty="0" err="1" smtClean="0"/>
              <a:t>MyThread</a:t>
            </a:r>
            <a:r>
              <a:rPr lang="en-US" sz="2400" dirty="0" smtClean="0"/>
              <a:t> extends Thread {</a:t>
            </a:r>
          </a:p>
          <a:p>
            <a:r>
              <a:rPr lang="en-US" sz="2400" dirty="0" smtClean="0"/>
              <a:t>    public void run() {</a:t>
            </a:r>
          </a:p>
          <a:p>
            <a:r>
              <a:rPr lang="en-US" sz="2400" dirty="0" smtClean="0"/>
              <a:t>        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("Thread running...");</a:t>
            </a:r>
          </a:p>
          <a:p>
            <a:r>
              <a:rPr lang="en-US" sz="2400" dirty="0" smtClean="0"/>
              <a:t>    }</a:t>
            </a:r>
          </a:p>
          <a:p>
            <a:r>
              <a:rPr lang="en-US" sz="2400" dirty="0" smtClean="0"/>
              <a:t>}</a:t>
            </a:r>
          </a:p>
          <a:p>
            <a:r>
              <a:rPr lang="en-US" sz="2400" dirty="0" smtClean="0"/>
              <a:t>new </a:t>
            </a:r>
            <a:r>
              <a:rPr lang="en-US" sz="2400" dirty="0" err="1" smtClean="0"/>
              <a:t>MyThread</a:t>
            </a:r>
            <a:r>
              <a:rPr lang="en-US" sz="2400" dirty="0" smtClean="0"/>
              <a:t>().start();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Creating Threads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 smtClean="0"/>
              <a:t>Implement </a:t>
            </a:r>
            <a:r>
              <a:rPr lang="en-US" sz="2800" b="1" dirty="0" err="1" smtClean="0"/>
              <a:t>Runnable</a:t>
            </a:r>
            <a:r>
              <a:rPr lang="en-US" sz="2800" b="1" dirty="0" smtClean="0"/>
              <a:t> interface</a:t>
            </a:r>
            <a:endParaRPr lang="en-US" sz="2800" dirty="0" smtClean="0"/>
          </a:p>
          <a:p>
            <a:r>
              <a:rPr lang="en-US" sz="2800" dirty="0" smtClean="0"/>
              <a:t>class </a:t>
            </a:r>
            <a:r>
              <a:rPr lang="en-US" sz="2800" dirty="0" err="1" smtClean="0"/>
              <a:t>MyRunnable</a:t>
            </a:r>
            <a:r>
              <a:rPr lang="en-US" sz="2800" dirty="0" smtClean="0"/>
              <a:t> implements </a:t>
            </a:r>
            <a:r>
              <a:rPr lang="en-US" sz="2800" dirty="0" err="1" smtClean="0"/>
              <a:t>Runnable</a:t>
            </a:r>
            <a:r>
              <a:rPr lang="en-US" sz="2800" dirty="0" smtClean="0"/>
              <a:t> {</a:t>
            </a:r>
          </a:p>
          <a:p>
            <a:r>
              <a:rPr lang="en-US" sz="2800" dirty="0" smtClean="0"/>
              <a:t>    public void run() {</a:t>
            </a:r>
          </a:p>
          <a:p>
            <a:r>
              <a:rPr lang="en-US" sz="2800" dirty="0" smtClean="0"/>
              <a:t>        </a:t>
            </a:r>
            <a:r>
              <a:rPr lang="en-US" sz="2800" dirty="0" err="1" smtClean="0"/>
              <a:t>System.out.println</a:t>
            </a:r>
            <a:r>
              <a:rPr lang="en-US" sz="2800" dirty="0" smtClean="0"/>
              <a:t>("Thread running...");</a:t>
            </a:r>
          </a:p>
          <a:p>
            <a:r>
              <a:rPr lang="en-US" sz="2800" dirty="0" smtClean="0"/>
              <a:t>    }</a:t>
            </a:r>
          </a:p>
          <a:p>
            <a:r>
              <a:rPr lang="en-US" sz="2800" dirty="0" smtClean="0"/>
              <a:t>}</a:t>
            </a:r>
          </a:p>
          <a:p>
            <a:r>
              <a:rPr lang="en-US" sz="2800" dirty="0" smtClean="0"/>
              <a:t>new Thread(new </a:t>
            </a:r>
            <a:r>
              <a:rPr lang="en-US" sz="2800" dirty="0" err="1" smtClean="0"/>
              <a:t>MyRunnable</a:t>
            </a:r>
            <a:r>
              <a:rPr lang="en-US" sz="2800" dirty="0" smtClean="0"/>
              <a:t>()).start();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Main Thread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Every Java program starts with the </a:t>
            </a:r>
            <a:r>
              <a:rPr lang="en-US" b="1" dirty="0" smtClean="0"/>
              <a:t>main thread</a:t>
            </a:r>
            <a:r>
              <a:rPr lang="en-US" dirty="0" smtClean="0"/>
              <a:t>.</a:t>
            </a:r>
          </a:p>
          <a:p>
            <a:pPr lvl="0"/>
            <a:r>
              <a:rPr lang="en-US" dirty="0" smtClean="0"/>
              <a:t>You can get reference using:</a:t>
            </a:r>
          </a:p>
          <a:p>
            <a:pPr lvl="0"/>
            <a:r>
              <a:rPr lang="en-US" dirty="0" smtClean="0"/>
              <a:t>Thread t = </a:t>
            </a:r>
            <a:r>
              <a:rPr lang="en-US" dirty="0" err="1" smtClean="0"/>
              <a:t>Thread.currentThread</a:t>
            </a:r>
            <a:r>
              <a:rPr lang="en-US" dirty="0" smtClean="0"/>
              <a:t>();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Thread States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 smtClean="0"/>
              <a:t>New</a:t>
            </a:r>
            <a:r>
              <a:rPr lang="en-US" dirty="0" smtClean="0"/>
              <a:t> → Created but not started.</a:t>
            </a:r>
          </a:p>
          <a:p>
            <a:pPr lvl="0"/>
            <a:r>
              <a:rPr lang="en-US" b="1" dirty="0" err="1" smtClean="0"/>
              <a:t>Runnable</a:t>
            </a:r>
            <a:r>
              <a:rPr lang="en-US" dirty="0" smtClean="0"/>
              <a:t> → Ready to run.</a:t>
            </a:r>
          </a:p>
          <a:p>
            <a:pPr lvl="0"/>
            <a:r>
              <a:rPr lang="en-US" b="1" dirty="0" smtClean="0"/>
              <a:t>Running</a:t>
            </a:r>
            <a:r>
              <a:rPr lang="en-US" dirty="0" smtClean="0"/>
              <a:t> → Executing code.</a:t>
            </a:r>
          </a:p>
          <a:p>
            <a:pPr lvl="0"/>
            <a:r>
              <a:rPr lang="en-US" b="1" dirty="0" smtClean="0"/>
              <a:t>Waiting/Blocked</a:t>
            </a:r>
            <a:r>
              <a:rPr lang="en-US" dirty="0" smtClean="0"/>
              <a:t> → Waiting for resource.</a:t>
            </a:r>
          </a:p>
          <a:p>
            <a:pPr lvl="0"/>
            <a:r>
              <a:rPr lang="en-US" b="1" dirty="0" smtClean="0"/>
              <a:t>Terminated</a:t>
            </a:r>
            <a:r>
              <a:rPr lang="en-US" dirty="0" smtClean="0"/>
              <a:t> → Finished.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Thread Priority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Range: </a:t>
            </a:r>
            <a:r>
              <a:rPr lang="en-US" b="1" dirty="0" smtClean="0"/>
              <a:t>1 (MIN) → 10 (MAX)</a:t>
            </a:r>
            <a:r>
              <a:rPr lang="en-US" dirty="0" smtClean="0"/>
              <a:t>, default = 5.</a:t>
            </a:r>
          </a:p>
          <a:p>
            <a:pPr lvl="0"/>
            <a:r>
              <a:rPr lang="en-US" dirty="0" smtClean="0"/>
              <a:t>Set using </a:t>
            </a:r>
            <a:r>
              <a:rPr lang="en-US" dirty="0" err="1" smtClean="0"/>
              <a:t>setPriority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 p).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Synchronization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Prevents multiple threads from accessing shared resources at the same time.</a:t>
            </a:r>
          </a:p>
          <a:p>
            <a:pPr lvl="0"/>
            <a:r>
              <a:rPr lang="en-US" dirty="0" smtClean="0"/>
              <a:t>Achieved using synchronized keyword.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Deadlock &amp; Race Conditions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 smtClean="0"/>
              <a:t>Deadlock</a:t>
            </a:r>
            <a:r>
              <a:rPr lang="en-US" dirty="0" smtClean="0"/>
              <a:t>: Two threads waiting on each other forever.</a:t>
            </a:r>
          </a:p>
          <a:p>
            <a:pPr lvl="0"/>
            <a:r>
              <a:rPr lang="en-US" b="1" dirty="0" smtClean="0"/>
              <a:t>Race Condition</a:t>
            </a:r>
            <a:r>
              <a:rPr lang="en-US" dirty="0" smtClean="0"/>
              <a:t>: Multiple threads accessing shared resource → inconsistent result.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Inter-thread Communication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 smtClean="0"/>
              <a:t>Inter-thread communication</a:t>
            </a:r>
            <a:r>
              <a:rPr lang="en-US" dirty="0" smtClean="0"/>
              <a:t> means </a:t>
            </a:r>
            <a:r>
              <a:rPr lang="en-US" b="1" dirty="0" smtClean="0"/>
              <a:t>two or more threads communicating with each other</a:t>
            </a:r>
            <a:r>
              <a:rPr lang="en-US" dirty="0" smtClean="0"/>
              <a:t> to coordinate their actions.</a:t>
            </a:r>
          </a:p>
          <a:p>
            <a:pPr lvl="0">
              <a:buNone/>
            </a:pPr>
            <a:r>
              <a:rPr lang="en-US" dirty="0" smtClean="0"/>
              <a:t>    Methods: wait(), notify(), </a:t>
            </a:r>
            <a:r>
              <a:rPr lang="en-US" dirty="0" err="1" smtClean="0"/>
              <a:t>notifyAll</a:t>
            </a:r>
            <a:r>
              <a:rPr lang="en-US" dirty="0" smtClean="0"/>
              <a:t>().</a:t>
            </a:r>
          </a:p>
          <a:p>
            <a:pPr lvl="0"/>
            <a:r>
              <a:rPr lang="en-US" dirty="0" smtClean="0"/>
              <a:t>Used for coordination between threads.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Methods Used for Communication</a:t>
            </a:r>
          </a:p>
          <a:p>
            <a:r>
              <a:rPr lang="en-US" sz="2400" dirty="0" smtClean="0"/>
              <a:t>These three methods are available in </a:t>
            </a:r>
            <a:r>
              <a:rPr lang="en-US" sz="2400" b="1" dirty="0" smtClean="0"/>
              <a:t>Object class</a:t>
            </a:r>
            <a:r>
              <a:rPr lang="en-US" sz="2400" dirty="0" smtClean="0"/>
              <a:t> (so every Java object can use them):</a:t>
            </a:r>
          </a:p>
          <a:p>
            <a:r>
              <a:rPr lang="en-US" sz="2400" dirty="0" smtClean="0"/>
              <a:t>wait():Makes the current thread </a:t>
            </a:r>
            <a:r>
              <a:rPr lang="en-US" sz="2400" b="1" dirty="0" smtClean="0"/>
              <a:t>wait</a:t>
            </a:r>
            <a:r>
              <a:rPr lang="en-US" sz="2400" dirty="0" smtClean="0"/>
              <a:t> (pause) until another thread calls notify() or </a:t>
            </a:r>
            <a:r>
              <a:rPr lang="en-US" sz="2400" dirty="0" err="1" smtClean="0"/>
              <a:t>notifyAll</a:t>
            </a:r>
            <a:r>
              <a:rPr lang="en-US" sz="2400" dirty="0" smtClean="0"/>
              <a:t>() on the same object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notify</a:t>
            </a:r>
            <a:r>
              <a:rPr lang="en-US" sz="2400" dirty="0" smtClean="0"/>
              <a:t>()Wakes up </a:t>
            </a:r>
            <a:r>
              <a:rPr lang="en-US" sz="2400" b="1" dirty="0" smtClean="0"/>
              <a:t>one</a:t>
            </a:r>
            <a:r>
              <a:rPr lang="en-US" sz="2400" dirty="0" smtClean="0"/>
              <a:t> waiting thread on that object.</a:t>
            </a:r>
          </a:p>
          <a:p>
            <a:endParaRPr lang="en-US" sz="2400" dirty="0" smtClean="0"/>
          </a:p>
          <a:p>
            <a:r>
              <a:rPr lang="en-US" sz="2400" dirty="0" err="1" smtClean="0"/>
              <a:t>notifyAll</a:t>
            </a:r>
            <a:r>
              <a:rPr lang="en-US" sz="2400" dirty="0" smtClean="0"/>
              <a:t>()Wakes up </a:t>
            </a:r>
            <a:r>
              <a:rPr lang="en-US" sz="2400" b="1" dirty="0" smtClean="0"/>
              <a:t>all</a:t>
            </a:r>
            <a:r>
              <a:rPr lang="en-US" sz="2400" dirty="0" smtClean="0"/>
              <a:t> waiting threads on that object.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Suspending, Resuming, Stopping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Old methods (suspend(), resume(), stop()) are </a:t>
            </a:r>
            <a:r>
              <a:rPr lang="en-US" b="1" dirty="0" smtClean="0"/>
              <a:t>deprecated</a:t>
            </a:r>
            <a:r>
              <a:rPr lang="en-US" dirty="0" smtClean="0"/>
              <a:t> (unsafe).</a:t>
            </a:r>
          </a:p>
          <a:p>
            <a:pPr lvl="0"/>
            <a:r>
              <a:rPr lang="en-US" dirty="0" smtClean="0"/>
              <a:t>Recommended: Use wait()/notify() or custom flags.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JavaFX</a:t>
            </a:r>
            <a:r>
              <a:rPr lang="en-US" b="1" dirty="0" smtClean="0"/>
              <a:t> GUI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err="1" smtClean="0"/>
              <a:t>JavaFX</a:t>
            </a:r>
            <a:r>
              <a:rPr lang="en-US" dirty="0" smtClean="0"/>
              <a:t> is used for building </a:t>
            </a:r>
            <a:r>
              <a:rPr lang="en-US" b="1" dirty="0" smtClean="0"/>
              <a:t>rich GUI applications</a:t>
            </a:r>
            <a:r>
              <a:rPr lang="en-US" dirty="0" smtClean="0"/>
              <a:t>.</a:t>
            </a:r>
          </a:p>
          <a:p>
            <a:pPr lvl="0"/>
            <a:r>
              <a:rPr lang="en-US" dirty="0" smtClean="0"/>
              <a:t>It replaced Swing as modern Java UI framework.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JavaFX</a:t>
            </a:r>
            <a:r>
              <a:rPr lang="en-US" b="1" dirty="0" smtClean="0"/>
              <a:t> Scene Builder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Drag-and-drop tool to design UI.</a:t>
            </a:r>
          </a:p>
          <a:p>
            <a:pPr lvl="0"/>
            <a:r>
              <a:rPr lang="en-US" dirty="0" smtClean="0"/>
              <a:t>Generates </a:t>
            </a:r>
            <a:r>
              <a:rPr lang="en-US" b="1" dirty="0" smtClean="0"/>
              <a:t>FXML files</a:t>
            </a:r>
            <a:r>
              <a:rPr lang="en-US" dirty="0" smtClean="0"/>
              <a:t> (XML-based UI definition).</a:t>
            </a:r>
          </a:p>
          <a:p>
            <a:pPr lvl="0"/>
            <a:r>
              <a:rPr lang="en-US" dirty="0" smtClean="0"/>
              <a:t>Can link FXML with controller class in Java.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JavaFX</a:t>
            </a:r>
            <a:r>
              <a:rPr lang="en-US" b="1" dirty="0" smtClean="0"/>
              <a:t> App Window Structure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 smtClean="0"/>
              <a:t>Stage</a:t>
            </a:r>
            <a:r>
              <a:rPr lang="en-US" dirty="0" smtClean="0"/>
              <a:t> → Main window (top-level container).</a:t>
            </a:r>
          </a:p>
          <a:p>
            <a:pPr lvl="0"/>
            <a:r>
              <a:rPr lang="en-US" b="1" dirty="0" smtClean="0"/>
              <a:t>Scene</a:t>
            </a:r>
            <a:r>
              <a:rPr lang="en-US" dirty="0" smtClean="0"/>
              <a:t> → Holds the content (UI hierarchy).</a:t>
            </a:r>
          </a:p>
          <a:p>
            <a:pPr lvl="0"/>
            <a:r>
              <a:rPr lang="en-US" b="1" dirty="0" smtClean="0"/>
              <a:t>Nodes</a:t>
            </a:r>
            <a:r>
              <a:rPr lang="en-US" dirty="0" smtClean="0"/>
              <a:t> → Elements like buttons, labels, images, text fields.</a:t>
            </a:r>
          </a:p>
          <a:p>
            <a:pPr lvl="0"/>
            <a:r>
              <a:rPr lang="en-US" b="1" dirty="0" smtClean="0"/>
              <a:t>Scene Graph</a:t>
            </a:r>
            <a:r>
              <a:rPr lang="en-US" dirty="0" smtClean="0"/>
              <a:t> → Tree structure of nodes inside a scene.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Displaying Text and Image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Label → To display text.</a:t>
            </a:r>
          </a:p>
          <a:p>
            <a:pPr lvl="0"/>
            <a:r>
              <a:rPr lang="en-US" dirty="0" smtClean="0"/>
              <a:t>Text → Rich text control.</a:t>
            </a:r>
          </a:p>
          <a:p>
            <a:pPr lvl="0"/>
            <a:r>
              <a:rPr lang="en-US" dirty="0" smtClean="0"/>
              <a:t>Image, </a:t>
            </a:r>
            <a:r>
              <a:rPr lang="en-US" dirty="0" err="1" smtClean="0"/>
              <a:t>ImageView</a:t>
            </a:r>
            <a:r>
              <a:rPr lang="en-US" dirty="0" smtClean="0"/>
              <a:t> → For images.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Event Handling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Uses </a:t>
            </a:r>
            <a:r>
              <a:rPr lang="en-US" b="1" dirty="0" smtClean="0"/>
              <a:t>event-driven programming</a:t>
            </a:r>
            <a:r>
              <a:rPr lang="en-US" dirty="0" smtClean="0"/>
              <a:t>.</a:t>
            </a:r>
          </a:p>
          <a:p>
            <a:pPr lvl="0"/>
            <a:r>
              <a:rPr lang="en-US" dirty="0" smtClean="0"/>
              <a:t>Example:</a:t>
            </a:r>
          </a:p>
          <a:p>
            <a:pPr lvl="0"/>
            <a:r>
              <a:rPr lang="en-US" dirty="0" smtClean="0"/>
              <a:t>Button </a:t>
            </a:r>
            <a:r>
              <a:rPr lang="en-US" dirty="0" err="1" smtClean="0"/>
              <a:t>btn</a:t>
            </a:r>
            <a:r>
              <a:rPr lang="en-US" dirty="0" smtClean="0"/>
              <a:t> = new Button("Click");</a:t>
            </a:r>
          </a:p>
          <a:p>
            <a:pPr lvl="0"/>
            <a:r>
              <a:rPr lang="en-US" dirty="0" err="1" smtClean="0"/>
              <a:t>btn.setOnAction</a:t>
            </a:r>
            <a:r>
              <a:rPr lang="en-US" dirty="0" smtClean="0"/>
              <a:t>(e -&gt; </a:t>
            </a:r>
            <a:r>
              <a:rPr lang="en-US" dirty="0" err="1" smtClean="0"/>
              <a:t>System.out.println</a:t>
            </a:r>
            <a:r>
              <a:rPr lang="en-US" dirty="0" smtClean="0"/>
              <a:t>("Button clicked!"));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Layout Managers</a:t>
            </a:r>
            <a:r>
              <a:rPr lang="en-US" sz="3600" dirty="0" smtClean="0"/>
              <a:t/>
            </a:r>
            <a:br>
              <a:rPr lang="en-US" sz="3600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Arrange nodes in scene graph.</a:t>
            </a:r>
            <a:endParaRPr lang="en-US" sz="2800" dirty="0" smtClean="0"/>
          </a:p>
          <a:p>
            <a:pPr lvl="0"/>
            <a:r>
              <a:rPr lang="en-US" dirty="0" smtClean="0"/>
              <a:t>Examples:</a:t>
            </a:r>
            <a:endParaRPr lang="en-US" sz="2800" dirty="0" smtClean="0"/>
          </a:p>
          <a:p>
            <a:pPr lvl="1"/>
            <a:r>
              <a:rPr lang="en-US" sz="1800" dirty="0" err="1" smtClean="0"/>
              <a:t>HBox</a:t>
            </a:r>
            <a:r>
              <a:rPr lang="en-US" dirty="0" smtClean="0"/>
              <a:t>, </a:t>
            </a:r>
            <a:r>
              <a:rPr lang="en-US" sz="1800" dirty="0" err="1" smtClean="0"/>
              <a:t>VBox</a:t>
            </a:r>
            <a:r>
              <a:rPr lang="en-US" dirty="0" smtClean="0"/>
              <a:t> → Horizontal/Vertical arrangement.</a:t>
            </a:r>
            <a:endParaRPr lang="en-US" sz="2400" dirty="0" smtClean="0"/>
          </a:p>
          <a:p>
            <a:pPr lvl="1"/>
            <a:r>
              <a:rPr lang="en-US" sz="1800" dirty="0" err="1" smtClean="0"/>
              <a:t>BorderPane</a:t>
            </a:r>
            <a:r>
              <a:rPr lang="en-US" dirty="0" smtClean="0"/>
              <a:t> → Top, bottom, left, right, center.</a:t>
            </a:r>
            <a:endParaRPr lang="en-US" sz="2400" dirty="0" smtClean="0"/>
          </a:p>
          <a:p>
            <a:pPr lvl="1"/>
            <a:r>
              <a:rPr lang="en-US" sz="1800" dirty="0" err="1" smtClean="0"/>
              <a:t>GridPane</a:t>
            </a:r>
            <a:r>
              <a:rPr lang="en-US" dirty="0" smtClean="0"/>
              <a:t> → Grid-based layout.</a:t>
            </a:r>
            <a:endParaRPr lang="en-US" sz="2400" dirty="0" smtClean="0"/>
          </a:p>
          <a:p>
            <a:pPr lvl="1"/>
            <a:r>
              <a:rPr lang="en-US" sz="1800" dirty="0" err="1" smtClean="0"/>
              <a:t>StackPane</a:t>
            </a:r>
            <a:r>
              <a:rPr lang="en-US" dirty="0" smtClean="0"/>
              <a:t> → Stack of nodes.</a:t>
            </a:r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Mouse Events</a:t>
            </a:r>
            <a:r>
              <a:rPr lang="en-US" sz="3600" dirty="0" smtClean="0"/>
              <a:t/>
            </a:r>
            <a:br>
              <a:rPr lang="en-US" sz="3600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err="1" smtClean="0"/>
              <a:t>JavaFX</a:t>
            </a:r>
            <a:r>
              <a:rPr lang="en-US" sz="2400" dirty="0" smtClean="0"/>
              <a:t> provides event handlers:</a:t>
            </a:r>
            <a:endParaRPr lang="en-US" sz="2000" dirty="0" smtClean="0"/>
          </a:p>
          <a:p>
            <a:pPr lvl="1"/>
            <a:r>
              <a:rPr lang="en-US" sz="2000" dirty="0" err="1" smtClean="0"/>
              <a:t>setOnMouseClicked</a:t>
            </a:r>
            <a:r>
              <a:rPr lang="en-US" sz="2000" dirty="0" smtClean="0"/>
              <a:t>()</a:t>
            </a:r>
            <a:endParaRPr lang="en-US" dirty="0" smtClean="0"/>
          </a:p>
          <a:p>
            <a:pPr lvl="1"/>
            <a:r>
              <a:rPr lang="en-US" sz="2000" dirty="0" err="1" smtClean="0"/>
              <a:t>setOnMouseEntered</a:t>
            </a:r>
            <a:r>
              <a:rPr lang="en-US" sz="2000" dirty="0" smtClean="0"/>
              <a:t>()</a:t>
            </a:r>
            <a:endParaRPr lang="en-US" dirty="0" smtClean="0"/>
          </a:p>
          <a:p>
            <a:pPr lvl="1"/>
            <a:r>
              <a:rPr lang="en-US" sz="2000" dirty="0" err="1" smtClean="0"/>
              <a:t>setOnMouseExited</a:t>
            </a:r>
            <a:r>
              <a:rPr lang="en-US" sz="2000" dirty="0" smtClean="0"/>
              <a:t>()</a:t>
            </a:r>
            <a:endParaRPr lang="en-US" dirty="0" smtClean="0"/>
          </a:p>
          <a:p>
            <a:pPr lvl="1"/>
            <a:r>
              <a:rPr lang="en-US" sz="2000" dirty="0" err="1" smtClean="0"/>
              <a:t>setOnMouseDragged</a:t>
            </a:r>
            <a:r>
              <a:rPr lang="en-US" sz="2000" dirty="0" smtClean="0"/>
              <a:t>()</a:t>
            </a:r>
            <a:endParaRPr lang="en-US" dirty="0" smtClean="0"/>
          </a:p>
          <a:p>
            <a:r>
              <a:rPr lang="en-US" sz="2400" dirty="0" smtClean="0"/>
              <a:t>Example:</a:t>
            </a:r>
            <a:endParaRPr lang="en-US" sz="2000" dirty="0" smtClean="0"/>
          </a:p>
          <a:p>
            <a:r>
              <a:rPr lang="en-US" sz="2400" dirty="0" err="1" smtClean="0"/>
              <a:t>scene.setOnMouseClicked</a:t>
            </a:r>
            <a:r>
              <a:rPr lang="en-US" sz="2400" dirty="0" smtClean="0"/>
              <a:t>(e -&gt; {</a:t>
            </a:r>
            <a:endParaRPr lang="en-US" dirty="0" smtClean="0"/>
          </a:p>
          <a:p>
            <a:r>
              <a:rPr lang="en-US" sz="2400" dirty="0" smtClean="0"/>
              <a:t>    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("Mouse clicked at: " + </a:t>
            </a:r>
            <a:r>
              <a:rPr lang="en-US" sz="2400" dirty="0" err="1" smtClean="0"/>
              <a:t>e.getX</a:t>
            </a:r>
            <a:r>
              <a:rPr lang="en-US" sz="2400" dirty="0" smtClean="0"/>
              <a:t>() + ", " + </a:t>
            </a:r>
            <a:r>
              <a:rPr lang="en-US" sz="2400" dirty="0" err="1" smtClean="0"/>
              <a:t>e.getY</a:t>
            </a:r>
            <a:r>
              <a:rPr lang="en-US" sz="2400" dirty="0" smtClean="0"/>
              <a:t>());</a:t>
            </a:r>
            <a:endParaRPr lang="en-US" dirty="0" smtClean="0"/>
          </a:p>
          <a:p>
            <a:r>
              <a:rPr lang="en-US" sz="2400" dirty="0" smtClean="0"/>
              <a:t>});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2386</TotalTime>
  <Words>822</Words>
  <Application>Microsoft Office PowerPoint</Application>
  <PresentationFormat>On-screen Show (4:3)</PresentationFormat>
  <Paragraphs>135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Unit-5 String Handling in Java</vt:lpstr>
      <vt:lpstr>Introduction </vt:lpstr>
      <vt:lpstr>CharSequence Interface </vt:lpstr>
      <vt:lpstr>String Class </vt:lpstr>
      <vt:lpstr>Methods for Extracting Characters </vt:lpstr>
      <vt:lpstr>Comparison </vt:lpstr>
      <vt:lpstr>Modifying Strings </vt:lpstr>
      <vt:lpstr>Searching </vt:lpstr>
      <vt:lpstr>StringBuffer Class </vt:lpstr>
      <vt:lpstr>Multithreaded Programming in Java</vt:lpstr>
      <vt:lpstr>Creating Threads </vt:lpstr>
      <vt:lpstr>Creating Threads</vt:lpstr>
      <vt:lpstr>Main Thread </vt:lpstr>
      <vt:lpstr>Thread States </vt:lpstr>
      <vt:lpstr>Thread Priority </vt:lpstr>
      <vt:lpstr>Synchronization </vt:lpstr>
      <vt:lpstr>Deadlock &amp; Race Conditions </vt:lpstr>
      <vt:lpstr>Inter-thread Communication </vt:lpstr>
      <vt:lpstr>Slide 19</vt:lpstr>
      <vt:lpstr>Suspending, Resuming, Stopping </vt:lpstr>
      <vt:lpstr>JavaFX GUI</vt:lpstr>
      <vt:lpstr>JavaFX Scene Builder </vt:lpstr>
      <vt:lpstr>JavaFX App Window Structure </vt:lpstr>
      <vt:lpstr>Displaying Text and Image </vt:lpstr>
      <vt:lpstr>Event Handling </vt:lpstr>
      <vt:lpstr>Layout Managers </vt:lpstr>
      <vt:lpstr>Mouse Events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Unit-3</dc:title>
  <dc:creator>USER</dc:creator>
  <cp:lastModifiedBy>USER</cp:lastModifiedBy>
  <cp:revision>328</cp:revision>
  <dcterms:created xsi:type="dcterms:W3CDTF">2025-08-16T06:30:43Z</dcterms:created>
  <dcterms:modified xsi:type="dcterms:W3CDTF">2025-10-22T09:22:06Z</dcterms:modified>
</cp:coreProperties>
</file>